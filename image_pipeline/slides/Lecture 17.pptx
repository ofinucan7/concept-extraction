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63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CC990EA-0DBA-47C4-937D-BB763E1CBE4C}" type="datetimeFigureOut">
              <a:rPr lang="en-US" smtClean="0"/>
              <a:pPr/>
              <a:t>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CC990EA-0DBA-47C4-937D-BB763E1CBE4C}" type="datetimeFigureOut">
              <a:rPr lang="en-US" smtClean="0"/>
              <a:pPr/>
              <a:t>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CC990EA-0DBA-47C4-937D-BB763E1CBE4C}" type="datetimeFigureOut">
              <a:rPr lang="en-US" smtClean="0"/>
              <a:pPr/>
              <a:t>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CC990EA-0DBA-47C4-937D-BB763E1CBE4C}" type="datetimeFigureOut">
              <a:rPr lang="en-US" smtClean="0"/>
              <a:pPr/>
              <a:t>11/8/2016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CC990EA-0DBA-47C4-937D-BB763E1CBE4C}" type="datetimeFigureOut">
              <a:rPr lang="en-US" smtClean="0"/>
              <a:pPr/>
              <a:t>11/8/2016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CC990EA-0DBA-47C4-937D-BB763E1CBE4C}" type="datetimeFigureOut">
              <a:rPr lang="en-US" smtClean="0"/>
              <a:pPr/>
              <a:t>11/8/2016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C990EA-0DBA-47C4-937D-BB763E1CBE4C}" type="datetimeFigureOut">
              <a:rPr lang="en-US" smtClean="0"/>
              <a:pPr/>
              <a:t>11/8/2016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C990EA-0DBA-47C4-937D-BB763E1CBE4C}" type="datetimeFigureOut">
              <a:rPr lang="en-US" smtClean="0"/>
              <a:pPr/>
              <a:t>11/8/2016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C990EA-0DBA-47C4-937D-BB763E1CBE4C}" type="datetimeFigureOut">
              <a:rPr lang="en-US" smtClean="0"/>
              <a:pPr/>
              <a:t>11/8/2016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CC990EA-0DBA-47C4-937D-BB763E1CBE4C}" type="datetimeFigureOut">
              <a:rPr lang="en-US" smtClean="0"/>
              <a:pPr/>
              <a:t>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CC990EA-0DBA-47C4-937D-BB763E1CBE4C}" type="datetimeFigureOut">
              <a:rPr lang="en-US" smtClean="0"/>
              <a:pPr/>
              <a:t>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C990EA-0DBA-47C4-937D-BB763E1CBE4C}" type="datetimeFigureOut">
              <a:rPr lang="en-US" smtClean="0"/>
              <a:pPr/>
              <a:t>11/8/2016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688D1D-AB8D-48E7-A41E-50B218591DD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chemeClr val="bg1"/>
                </a:solidFill>
              </a:rPr>
              <a:t>CS 0007: Introduction to Java</a:t>
            </a:r>
            <a:br>
              <a:rPr lang="en-US" dirty="0" smtClean="0">
                <a:solidFill>
                  <a:schemeClr val="bg1"/>
                </a:solidFill>
              </a:rPr>
            </a:br>
            <a:r>
              <a:rPr lang="en-US" dirty="0" smtClean="0">
                <a:solidFill>
                  <a:schemeClr val="bg1"/>
                </a:solidFill>
              </a:rPr>
              <a:t>Lecture 17</a:t>
            </a:r>
            <a:endParaRPr lang="en-US" dirty="0"/>
          </a:p>
        </p:txBody>
      </p:sp>
      <p:sp>
        <p:nvSpPr>
          <p:cNvPr id="3" name="Subtitle 2"/>
          <p:cNvSpPr>
            <a:spLocks noGrp="1"/>
          </p:cNvSpPr>
          <p:nvPr>
            <p:ph type="subTitle" idx="1"/>
          </p:nvPr>
        </p:nvSpPr>
        <p:spPr/>
        <p:txBody>
          <a:bodyPr/>
          <a:lstStyle/>
          <a:p>
            <a:r>
              <a:rPr lang="en-US" dirty="0" smtClean="0"/>
              <a:t>Nathan </a:t>
            </a:r>
            <a:r>
              <a:rPr lang="en-US" dirty="0" err="1" smtClean="0"/>
              <a:t>Ong</a:t>
            </a:r>
            <a:endParaRPr lang="en-US" dirty="0" smtClean="0"/>
          </a:p>
          <a:p>
            <a:r>
              <a:rPr lang="en-US" dirty="0" smtClean="0"/>
              <a:t>University of Pittsburgh</a:t>
            </a:r>
          </a:p>
          <a:p>
            <a:r>
              <a:rPr lang="en-US" dirty="0" smtClean="0"/>
              <a:t>November 8, 2016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Main Portions of OOP</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Building a class</a:t>
            </a:r>
          </a:p>
          <a:p>
            <a:r>
              <a:rPr lang="en-US" dirty="0" smtClean="0">
                <a:solidFill>
                  <a:schemeClr val="bg1"/>
                </a:solidFill>
              </a:rPr>
              <a:t>Determining inter-class relationships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Class Components</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Class-level/Instance Variables</a:t>
            </a:r>
          </a:p>
          <a:p>
            <a:r>
              <a:rPr lang="en-US" dirty="0" smtClean="0">
                <a:solidFill>
                  <a:schemeClr val="bg1"/>
                </a:solidFill>
              </a:rPr>
              <a:t>Methods</a:t>
            </a:r>
          </a:p>
          <a:p>
            <a:r>
              <a:rPr lang="en-US" dirty="0" smtClean="0">
                <a:solidFill>
                  <a:schemeClr val="bg1"/>
                </a:solidFill>
              </a:rPr>
              <a:t>Constructor(s)</a:t>
            </a:r>
            <a:endParaRPr lang="en-US"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Inter-class Relationships</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Building a single class is useless.  It needs to be used in context.</a:t>
            </a:r>
          </a:p>
          <a:p>
            <a:r>
              <a:rPr lang="en-US" dirty="0" smtClean="0">
                <a:solidFill>
                  <a:schemeClr val="bg1"/>
                </a:solidFill>
              </a:rPr>
              <a:t>There are two main relationships between classes</a:t>
            </a:r>
          </a:p>
          <a:p>
            <a:pPr lvl="1"/>
            <a:r>
              <a:rPr lang="en-US" dirty="0" smtClean="0">
                <a:solidFill>
                  <a:schemeClr val="bg1"/>
                </a:solidFill>
              </a:rPr>
              <a:t>Sub/Super class</a:t>
            </a:r>
          </a:p>
          <a:p>
            <a:pPr lvl="1"/>
            <a:r>
              <a:rPr lang="en-US" dirty="0" smtClean="0">
                <a:solidFill>
                  <a:schemeClr val="bg1"/>
                </a:solidFill>
              </a:rPr>
              <a:t>Ownership</a:t>
            </a:r>
            <a:endParaRPr lang="en-US"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Subclasses</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A </a:t>
            </a:r>
            <a:r>
              <a:rPr lang="en-US" dirty="0" smtClean="0">
                <a:solidFill>
                  <a:srgbClr val="FF0000"/>
                </a:solidFill>
              </a:rPr>
              <a:t>subclass</a:t>
            </a:r>
            <a:r>
              <a:rPr lang="en-US" dirty="0" smtClean="0">
                <a:solidFill>
                  <a:schemeClr val="bg1"/>
                </a:solidFill>
              </a:rPr>
              <a:t> of a class is a more specific type of a class</a:t>
            </a:r>
          </a:p>
          <a:p>
            <a:r>
              <a:rPr lang="en-US" dirty="0" smtClean="0">
                <a:solidFill>
                  <a:schemeClr val="bg1"/>
                </a:solidFill>
              </a:rPr>
              <a:t>Also known as the child of a class</a:t>
            </a:r>
          </a:p>
          <a:p>
            <a:r>
              <a:rPr lang="en-US" dirty="0" smtClean="0">
                <a:solidFill>
                  <a:schemeClr val="bg1"/>
                </a:solidFill>
              </a:rPr>
              <a:t>For example, a tree would be a subclass of plant</a:t>
            </a:r>
          </a:p>
          <a:p>
            <a:r>
              <a:rPr lang="en-US" dirty="0" smtClean="0">
                <a:solidFill>
                  <a:schemeClr val="bg1"/>
                </a:solidFill>
              </a:rPr>
              <a:t>Subclasses are meant to expand upon the behavior of their more general parent class</a:t>
            </a:r>
          </a:p>
          <a:p>
            <a:r>
              <a:rPr lang="en-US" dirty="0" smtClean="0">
                <a:solidFill>
                  <a:schemeClr val="bg1"/>
                </a:solidFill>
              </a:rPr>
              <a:t>You can have several subclasses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chemeClr val="bg1"/>
                </a:solidFill>
              </a:rPr>
              <a:t>Superclasses</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On the converse, a </a:t>
            </a:r>
            <a:r>
              <a:rPr lang="en-US" dirty="0" err="1" smtClean="0">
                <a:solidFill>
                  <a:srgbClr val="FF0000"/>
                </a:solidFill>
              </a:rPr>
              <a:t>superclass</a:t>
            </a:r>
            <a:r>
              <a:rPr lang="en-US" dirty="0" smtClean="0">
                <a:solidFill>
                  <a:srgbClr val="FF0000"/>
                </a:solidFill>
              </a:rPr>
              <a:t> </a:t>
            </a:r>
            <a:r>
              <a:rPr lang="en-US" dirty="0" smtClean="0">
                <a:solidFill>
                  <a:schemeClr val="bg1"/>
                </a:solidFill>
              </a:rPr>
              <a:t>is a more abstract and general version of a class</a:t>
            </a:r>
          </a:p>
          <a:p>
            <a:r>
              <a:rPr lang="en-US" dirty="0" smtClean="0">
                <a:solidFill>
                  <a:schemeClr val="bg1"/>
                </a:solidFill>
              </a:rPr>
              <a:t>Also known as the parent of a class</a:t>
            </a:r>
          </a:p>
          <a:p>
            <a:r>
              <a:rPr lang="en-US" dirty="0" smtClean="0">
                <a:solidFill>
                  <a:schemeClr val="bg1"/>
                </a:solidFill>
              </a:rPr>
              <a:t>Plant is the </a:t>
            </a:r>
            <a:r>
              <a:rPr lang="en-US" dirty="0" err="1" smtClean="0">
                <a:solidFill>
                  <a:schemeClr val="bg1"/>
                </a:solidFill>
              </a:rPr>
              <a:t>superclass</a:t>
            </a:r>
            <a:r>
              <a:rPr lang="en-US" dirty="0" smtClean="0">
                <a:solidFill>
                  <a:schemeClr val="bg1"/>
                </a:solidFill>
              </a:rPr>
              <a:t> of Tree</a:t>
            </a:r>
          </a:p>
          <a:p>
            <a:r>
              <a:rPr lang="en-US" dirty="0" smtClean="0">
                <a:solidFill>
                  <a:schemeClr val="bg1"/>
                </a:solidFill>
              </a:rPr>
              <a:t>You can only have one </a:t>
            </a:r>
            <a:r>
              <a:rPr lang="en-US" dirty="0" err="1" smtClean="0">
                <a:solidFill>
                  <a:schemeClr val="bg1"/>
                </a:solidFill>
              </a:rPr>
              <a:t>superclass</a:t>
            </a:r>
            <a:endParaRPr lang="en-US"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Declaring a Class to be a Subtype</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In order to declare a class’s parent, use the keyword </a:t>
            </a:r>
            <a:r>
              <a:rPr lang="en-US" b="1" dirty="0" smtClean="0">
                <a:solidFill>
                  <a:srgbClr val="7030A0"/>
                </a:solidFill>
                <a:latin typeface="Courier New" pitchFamily="49" charset="0"/>
                <a:cs typeface="Courier New" pitchFamily="49" charset="0"/>
              </a:rPr>
              <a:t>extends</a:t>
            </a:r>
          </a:p>
          <a:p>
            <a:r>
              <a:rPr lang="en-US" dirty="0" smtClean="0">
                <a:solidFill>
                  <a:schemeClr val="bg1"/>
                </a:solidFill>
              </a:rPr>
              <a:t>(Classes that do not have a parent class implicitly extend the Object class)</a:t>
            </a:r>
            <a:endParaRPr lang="en-US"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Inheritance</a:t>
            </a: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solidFill>
                  <a:schemeClr val="bg1"/>
                </a:solidFill>
              </a:rPr>
              <a:t>A subclass </a:t>
            </a:r>
            <a:r>
              <a:rPr lang="en-US" dirty="0" smtClean="0">
                <a:solidFill>
                  <a:srgbClr val="FF0000"/>
                </a:solidFill>
              </a:rPr>
              <a:t>inherits </a:t>
            </a:r>
            <a:r>
              <a:rPr lang="en-US" dirty="0" smtClean="0">
                <a:solidFill>
                  <a:schemeClr val="bg1"/>
                </a:solidFill>
              </a:rPr>
              <a:t>all </a:t>
            </a:r>
            <a:r>
              <a:rPr lang="en-US" u="sng" dirty="0" smtClean="0">
                <a:solidFill>
                  <a:schemeClr val="bg1"/>
                </a:solidFill>
              </a:rPr>
              <a:t>non-private</a:t>
            </a:r>
            <a:r>
              <a:rPr lang="en-US" dirty="0" smtClean="0">
                <a:solidFill>
                  <a:schemeClr val="bg1"/>
                </a:solidFill>
              </a:rPr>
              <a:t> fields and methods</a:t>
            </a:r>
          </a:p>
          <a:p>
            <a:r>
              <a:rPr lang="en-US" dirty="0" smtClean="0">
                <a:solidFill>
                  <a:schemeClr val="bg1"/>
                </a:solidFill>
              </a:rPr>
              <a:t>Accessing these fields and methods requires the keyword </a:t>
            </a:r>
            <a:r>
              <a:rPr lang="en-US" b="1" dirty="0" smtClean="0">
                <a:solidFill>
                  <a:srgbClr val="7030A0"/>
                </a:solidFill>
                <a:latin typeface="Courier New" pitchFamily="49" charset="0"/>
                <a:cs typeface="Courier New" pitchFamily="49" charset="0"/>
              </a:rPr>
              <a:t>super</a:t>
            </a:r>
            <a:r>
              <a:rPr lang="en-US" dirty="0" smtClean="0">
                <a:solidFill>
                  <a:schemeClr val="bg1"/>
                </a:solidFill>
              </a:rPr>
              <a:t>.</a:t>
            </a:r>
          </a:p>
          <a:p>
            <a:r>
              <a:rPr lang="en-US" dirty="0" smtClean="0">
                <a:solidFill>
                  <a:schemeClr val="bg1"/>
                </a:solidFill>
              </a:rPr>
              <a:t>(Note: you may also be able to access private fields with the parent class’s getters and setters, which may be safer)</a:t>
            </a:r>
            <a:endParaRPr lang="en-US"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Restricting Access</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What if you want a field or method to be inherited, but still do not necessarily want it to be accessed by anyone?</a:t>
            </a:r>
          </a:p>
          <a:p>
            <a:r>
              <a:rPr lang="en-US" dirty="0" smtClean="0">
                <a:solidFill>
                  <a:schemeClr val="bg1"/>
                </a:solidFill>
              </a:rPr>
              <a:t>Use the keyword </a:t>
            </a:r>
            <a:r>
              <a:rPr lang="en-US" b="1" dirty="0" smtClean="0">
                <a:solidFill>
                  <a:srgbClr val="7030A0"/>
                </a:solidFill>
                <a:latin typeface="Courier New" pitchFamily="49" charset="0"/>
                <a:cs typeface="Courier New" pitchFamily="49" charset="0"/>
              </a:rPr>
              <a:t>protected</a:t>
            </a:r>
          </a:p>
          <a:p>
            <a:r>
              <a:rPr lang="en-US" dirty="0" smtClean="0">
                <a:solidFill>
                  <a:schemeClr val="bg1"/>
                </a:solidFill>
                <a:cs typeface="Courier New" pitchFamily="49" charset="0"/>
              </a:rPr>
              <a:t>Remember, releasing your access to these fields and methods should only be done when necessary</a:t>
            </a:r>
            <a:endParaRPr lang="en-US" dirty="0">
              <a:solidFill>
                <a:schemeClr val="bg1"/>
              </a:solidFill>
              <a:cs typeface="Courier New" pitchFamily="49"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Regarding Constructors</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Constructors cannot be inherited, even though they are public</a:t>
            </a:r>
          </a:p>
          <a:p>
            <a:r>
              <a:rPr lang="en-US" dirty="0" smtClean="0">
                <a:solidFill>
                  <a:schemeClr val="bg1"/>
                </a:solidFill>
              </a:rPr>
              <a:t>However, you can, and should, use them from the subclass’s constructor, to ensure complete initialization</a:t>
            </a:r>
          </a:p>
          <a:p>
            <a:r>
              <a:rPr lang="en-US" dirty="0" smtClean="0">
                <a:solidFill>
                  <a:schemeClr val="bg1"/>
                </a:solidFill>
              </a:rPr>
              <a:t>You can call the parent’s constructor by using the keyword </a:t>
            </a:r>
            <a:r>
              <a:rPr lang="en-US" b="1" dirty="0" smtClean="0">
                <a:solidFill>
                  <a:srgbClr val="7030A0"/>
                </a:solidFill>
                <a:latin typeface="Courier New" pitchFamily="49" charset="0"/>
                <a:cs typeface="Courier New" pitchFamily="49" charset="0"/>
              </a:rPr>
              <a:t>super</a:t>
            </a:r>
            <a:endParaRPr lang="en-US" b="1" dirty="0">
              <a:solidFill>
                <a:srgbClr val="7030A0"/>
              </a:solidFill>
              <a:latin typeface="Courier New" pitchFamily="49" charset="0"/>
              <a:cs typeface="Courier New"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Calling </a:t>
            </a:r>
            <a:r>
              <a:rPr lang="en-US" dirty="0" err="1" smtClean="0">
                <a:solidFill>
                  <a:schemeClr val="bg1"/>
                </a:solidFill>
              </a:rPr>
              <a:t>Superclass</a:t>
            </a:r>
            <a:r>
              <a:rPr lang="en-US" dirty="0" smtClean="0">
                <a:solidFill>
                  <a:schemeClr val="bg1"/>
                </a:solidFill>
              </a:rPr>
              <a:t> Constructor</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Unlike calling an overloaded constructor of the same class, calling a </a:t>
            </a:r>
            <a:r>
              <a:rPr lang="en-US" dirty="0" err="1" smtClean="0">
                <a:solidFill>
                  <a:schemeClr val="bg1"/>
                </a:solidFill>
              </a:rPr>
              <a:t>superclass</a:t>
            </a:r>
            <a:r>
              <a:rPr lang="en-US" dirty="0" smtClean="0">
                <a:solidFill>
                  <a:schemeClr val="bg1"/>
                </a:solidFill>
              </a:rPr>
              <a:t> constructor does not need to be the only line of code</a:t>
            </a:r>
          </a:p>
          <a:p>
            <a:r>
              <a:rPr lang="en-US" dirty="0" smtClean="0">
                <a:solidFill>
                  <a:schemeClr val="bg1"/>
                </a:solidFill>
              </a:rPr>
              <a:t>However, it must still be the first line of code in the constructor</a:t>
            </a:r>
            <a:endParaRPr lang="en-US"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Example</a:t>
            </a:r>
            <a:endParaRPr lang="en-US" dirty="0">
              <a:solidFill>
                <a:schemeClr val="bg1"/>
              </a:solidFill>
            </a:endParaRPr>
          </a:p>
        </p:txBody>
      </p:sp>
      <p:sp>
        <p:nvSpPr>
          <p:cNvPr id="3" name="Content Placeholder 2"/>
          <p:cNvSpPr>
            <a:spLocks noGrp="1"/>
          </p:cNvSpPr>
          <p:nvPr>
            <p:ph idx="1"/>
          </p:nvPr>
        </p:nvSpPr>
        <p:spPr>
          <a:xfrm>
            <a:off x="457200" y="1600200"/>
            <a:ext cx="8229600" cy="4525963"/>
          </a:xfrm>
        </p:spPr>
        <p:txBody>
          <a:bodyPr>
            <a:normAutofit fontScale="77500" lnSpcReduction="20000"/>
          </a:bodyPr>
          <a:lstStyle/>
          <a:p>
            <a:pPr>
              <a:buNone/>
            </a:pPr>
            <a:r>
              <a:rPr lang="en-US" b="1" dirty="0" smtClean="0">
                <a:solidFill>
                  <a:srgbClr val="7030A0"/>
                </a:solidFill>
                <a:latin typeface="Courier New" pitchFamily="49" charset="0"/>
                <a:cs typeface="Courier New" pitchFamily="49" charset="0"/>
              </a:rPr>
              <a:t>public class</a:t>
            </a:r>
            <a:r>
              <a:rPr lang="en-US" b="1" dirty="0" smtClean="0">
                <a:solidFill>
                  <a:schemeClr val="bg1"/>
                </a:solidFill>
                <a:latin typeface="Courier New" pitchFamily="49" charset="0"/>
                <a:cs typeface="Courier New" pitchFamily="49" charset="0"/>
              </a:rPr>
              <a:t> Vehicle</a:t>
            </a:r>
          </a:p>
          <a:p>
            <a:pPr>
              <a:buNone/>
            </a:pP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private final </a:t>
            </a:r>
            <a:r>
              <a:rPr lang="en-US" b="1" dirty="0" err="1" smtClean="0">
                <a:solidFill>
                  <a:srgbClr val="7030A0"/>
                </a:solidFill>
                <a:latin typeface="Courier New" pitchFamily="49" charset="0"/>
                <a:cs typeface="Courier New" pitchFamily="49" charset="0"/>
              </a:rPr>
              <a:t>int</a:t>
            </a:r>
            <a:r>
              <a:rPr lang="en-US" b="1" dirty="0" smtClean="0">
                <a:solidFill>
                  <a:srgbClr val="7030A0"/>
                </a:solidFill>
                <a:latin typeface="Courier New" pitchFamily="49" charset="0"/>
                <a:cs typeface="Courier New" pitchFamily="49" charset="0"/>
              </a:rPr>
              <a:t> </a:t>
            </a:r>
            <a:r>
              <a:rPr lang="en-US" b="1" dirty="0" err="1" smtClean="0">
                <a:solidFill>
                  <a:schemeClr val="bg1"/>
                </a:solidFill>
                <a:latin typeface="Courier New" pitchFamily="49" charset="0"/>
                <a:cs typeface="Courier New" pitchFamily="49" charset="0"/>
              </a:rPr>
              <a:t>numWheels</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public </a:t>
            </a:r>
            <a:r>
              <a:rPr lang="en-US" b="1" dirty="0" smtClean="0">
                <a:solidFill>
                  <a:schemeClr val="bg1"/>
                </a:solidFill>
                <a:latin typeface="Courier New" pitchFamily="49" charset="0"/>
                <a:cs typeface="Courier New" pitchFamily="49" charset="0"/>
              </a:rPr>
              <a:t>Vehicle(</a:t>
            </a:r>
            <a:r>
              <a:rPr lang="en-US" b="1" dirty="0" err="1" smtClean="0">
                <a:solidFill>
                  <a:srgbClr val="7030A0"/>
                </a:solidFill>
                <a:latin typeface="Courier New" pitchFamily="49" charset="0"/>
                <a:cs typeface="Courier New" pitchFamily="49" charset="0"/>
              </a:rPr>
              <a:t>int</a:t>
            </a:r>
            <a:r>
              <a:rPr lang="en-US" b="1" dirty="0" smtClean="0">
                <a:solidFill>
                  <a:schemeClr val="bg1"/>
                </a:solidFill>
                <a:latin typeface="Courier New" pitchFamily="49" charset="0"/>
                <a:cs typeface="Courier New" pitchFamily="49" charset="0"/>
              </a:rPr>
              <a:t> </a:t>
            </a:r>
            <a:r>
              <a:rPr lang="en-US" b="1" dirty="0" err="1" smtClean="0">
                <a:solidFill>
                  <a:schemeClr val="bg1"/>
                </a:solidFill>
                <a:latin typeface="Courier New" pitchFamily="49" charset="0"/>
                <a:cs typeface="Courier New" pitchFamily="49" charset="0"/>
              </a:rPr>
              <a:t>numWheels</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a:t>
            </a:r>
            <a:r>
              <a:rPr lang="en-US" b="1" dirty="0" err="1" smtClean="0">
                <a:solidFill>
                  <a:srgbClr val="7030A0"/>
                </a:solidFill>
                <a:latin typeface="Courier New" pitchFamily="49" charset="0"/>
                <a:cs typeface="Courier New" pitchFamily="49" charset="0"/>
              </a:rPr>
              <a:t>this</a:t>
            </a:r>
            <a:r>
              <a:rPr lang="en-US" b="1" dirty="0" err="1" smtClean="0">
                <a:solidFill>
                  <a:schemeClr val="bg1"/>
                </a:solidFill>
                <a:latin typeface="Courier New" pitchFamily="49" charset="0"/>
                <a:cs typeface="Courier New" pitchFamily="49" charset="0"/>
              </a:rPr>
              <a:t>.numWheels</a:t>
            </a:r>
            <a:r>
              <a:rPr lang="en-US" b="1" dirty="0" smtClean="0">
                <a:solidFill>
                  <a:schemeClr val="bg1"/>
                </a:solidFill>
                <a:latin typeface="Courier New" pitchFamily="49" charset="0"/>
                <a:cs typeface="Courier New" pitchFamily="49" charset="0"/>
              </a:rPr>
              <a:t> = </a:t>
            </a:r>
            <a:r>
              <a:rPr lang="en-US" b="1" dirty="0" err="1" smtClean="0">
                <a:solidFill>
                  <a:schemeClr val="bg1"/>
                </a:solidFill>
                <a:latin typeface="Courier New" pitchFamily="49" charset="0"/>
                <a:cs typeface="Courier New" pitchFamily="49" charset="0"/>
              </a:rPr>
              <a:t>numWheels</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a:t>
            </a:r>
            <a:r>
              <a:rPr lang="en-US" b="1" dirty="0" smtClean="0">
                <a:solidFill>
                  <a:schemeClr val="accent3">
                    <a:lumMod val="50000"/>
                  </a:schemeClr>
                </a:solidFill>
                <a:latin typeface="Courier New" pitchFamily="49" charset="0"/>
                <a:cs typeface="Courier New" pitchFamily="49" charset="0"/>
              </a:rPr>
              <a:t>//end function(double)</a:t>
            </a:r>
            <a:endParaRPr lang="en-US" b="1" dirty="0" smtClean="0">
              <a:solidFill>
                <a:schemeClr val="bg1"/>
              </a:solidFill>
              <a:latin typeface="Courier New" pitchFamily="49" charset="0"/>
              <a:cs typeface="Courier New" pitchFamily="49" charset="0"/>
            </a:endParaRP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a:t>
            </a:r>
            <a:r>
              <a:rPr lang="en-US" b="1" dirty="0" smtClean="0">
                <a:solidFill>
                  <a:schemeClr val="accent3">
                    <a:lumMod val="50000"/>
                  </a:schemeClr>
                </a:solidFill>
                <a:latin typeface="Courier New" pitchFamily="49" charset="0"/>
                <a:cs typeface="Courier New" pitchFamily="49" charset="0"/>
              </a:rPr>
              <a:t>//End class Vehicle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Example</a:t>
            </a:r>
            <a:endParaRPr lang="en-US" dirty="0">
              <a:solidFill>
                <a:schemeClr val="bg1"/>
              </a:solidFill>
            </a:endParaRPr>
          </a:p>
        </p:txBody>
      </p:sp>
      <p:sp>
        <p:nvSpPr>
          <p:cNvPr id="3" name="Content Placeholder 2"/>
          <p:cNvSpPr>
            <a:spLocks noGrp="1"/>
          </p:cNvSpPr>
          <p:nvPr>
            <p:ph idx="1"/>
          </p:nvPr>
        </p:nvSpPr>
        <p:spPr/>
        <p:txBody>
          <a:bodyPr>
            <a:normAutofit fontScale="55000" lnSpcReduction="20000"/>
          </a:bodyPr>
          <a:lstStyle/>
          <a:p>
            <a:pPr>
              <a:buNone/>
            </a:pPr>
            <a:r>
              <a:rPr lang="en-US" b="1" dirty="0" smtClean="0">
                <a:solidFill>
                  <a:srgbClr val="7030A0"/>
                </a:solidFill>
                <a:latin typeface="Courier New" pitchFamily="49" charset="0"/>
                <a:cs typeface="Courier New" pitchFamily="49" charset="0"/>
              </a:rPr>
              <a:t>public class</a:t>
            </a:r>
            <a:r>
              <a:rPr lang="en-US" b="1" dirty="0" smtClean="0">
                <a:solidFill>
                  <a:schemeClr val="bg1"/>
                </a:solidFill>
                <a:latin typeface="Courier New" pitchFamily="49" charset="0"/>
                <a:cs typeface="Courier New" pitchFamily="49" charset="0"/>
              </a:rPr>
              <a:t> Car </a:t>
            </a:r>
            <a:r>
              <a:rPr lang="en-US" b="1" dirty="0" smtClean="0">
                <a:solidFill>
                  <a:srgbClr val="7030A0"/>
                </a:solidFill>
                <a:latin typeface="Courier New" pitchFamily="49" charset="0"/>
                <a:cs typeface="Courier New" pitchFamily="49" charset="0"/>
              </a:rPr>
              <a:t>extends</a:t>
            </a:r>
            <a:r>
              <a:rPr lang="en-US" b="1" dirty="0" smtClean="0">
                <a:solidFill>
                  <a:schemeClr val="bg1"/>
                </a:solidFill>
                <a:latin typeface="Courier New" pitchFamily="49" charset="0"/>
                <a:cs typeface="Courier New" pitchFamily="49" charset="0"/>
              </a:rPr>
              <a:t> Vehicle</a:t>
            </a:r>
          </a:p>
          <a:p>
            <a:pPr>
              <a:buNone/>
            </a:pP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private </a:t>
            </a:r>
            <a:r>
              <a:rPr lang="en-US" b="1" dirty="0" err="1" smtClean="0">
                <a:solidFill>
                  <a:srgbClr val="7030A0"/>
                </a:solidFill>
                <a:latin typeface="Courier New" pitchFamily="49" charset="0"/>
                <a:cs typeface="Courier New" pitchFamily="49" charset="0"/>
              </a:rPr>
              <a:t>int</a:t>
            </a:r>
            <a:r>
              <a:rPr lang="en-US" b="1" dirty="0" smtClean="0">
                <a:solidFill>
                  <a:srgbClr val="7030A0"/>
                </a:solidFill>
                <a:latin typeface="Courier New" pitchFamily="49" charset="0"/>
                <a:cs typeface="Courier New" pitchFamily="49" charset="0"/>
              </a:rPr>
              <a:t> </a:t>
            </a:r>
            <a:r>
              <a:rPr lang="en-US" b="1" dirty="0" err="1" smtClean="0">
                <a:solidFill>
                  <a:schemeClr val="bg1"/>
                </a:solidFill>
                <a:latin typeface="Courier New" pitchFamily="49" charset="0"/>
                <a:cs typeface="Courier New" pitchFamily="49" charset="0"/>
              </a:rPr>
              <a:t>numPassengers</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private double </a:t>
            </a:r>
            <a:r>
              <a:rPr lang="en-US" b="1" dirty="0" err="1" smtClean="0">
                <a:solidFill>
                  <a:schemeClr val="bg1"/>
                </a:solidFill>
                <a:latin typeface="Courier New" pitchFamily="49" charset="0"/>
                <a:cs typeface="Courier New" pitchFamily="49" charset="0"/>
              </a:rPr>
              <a:t>gasRemaining</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public </a:t>
            </a:r>
            <a:r>
              <a:rPr lang="en-US" b="1" dirty="0" smtClean="0">
                <a:solidFill>
                  <a:schemeClr val="bg1"/>
                </a:solidFill>
                <a:latin typeface="Courier New" pitchFamily="49" charset="0"/>
                <a:cs typeface="Courier New" pitchFamily="49" charset="0"/>
              </a:rPr>
              <a:t>Car(</a:t>
            </a:r>
            <a:r>
              <a:rPr lang="en-US" b="1" dirty="0" err="1" smtClean="0">
                <a:solidFill>
                  <a:srgbClr val="7030A0"/>
                </a:solidFill>
                <a:latin typeface="Courier New" pitchFamily="49" charset="0"/>
                <a:cs typeface="Courier New" pitchFamily="49" charset="0"/>
              </a:rPr>
              <a:t>int</a:t>
            </a:r>
            <a:r>
              <a:rPr lang="en-US" b="1" dirty="0" smtClean="0">
                <a:solidFill>
                  <a:schemeClr val="bg1"/>
                </a:solidFill>
                <a:latin typeface="Courier New" pitchFamily="49" charset="0"/>
                <a:cs typeface="Courier New" pitchFamily="49" charset="0"/>
              </a:rPr>
              <a:t> </a:t>
            </a:r>
            <a:r>
              <a:rPr lang="en-US" b="1" dirty="0" err="1" smtClean="0">
                <a:solidFill>
                  <a:schemeClr val="bg1"/>
                </a:solidFill>
                <a:latin typeface="Courier New" pitchFamily="49" charset="0"/>
                <a:cs typeface="Courier New" pitchFamily="49" charset="0"/>
              </a:rPr>
              <a:t>numPassengers</a:t>
            </a: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double</a:t>
            </a:r>
            <a:r>
              <a:rPr lang="en-US" b="1" dirty="0" smtClean="0">
                <a:solidFill>
                  <a:schemeClr val="bg1"/>
                </a:solidFill>
                <a:latin typeface="Courier New" pitchFamily="49" charset="0"/>
                <a:cs typeface="Courier New" pitchFamily="49" charset="0"/>
              </a:rPr>
              <a:t> </a:t>
            </a:r>
            <a:r>
              <a:rPr lang="en-US" b="1" dirty="0" err="1" smtClean="0">
                <a:solidFill>
                  <a:schemeClr val="bg1"/>
                </a:solidFill>
                <a:latin typeface="Courier New" pitchFamily="49" charset="0"/>
                <a:cs typeface="Courier New" pitchFamily="49" charset="0"/>
              </a:rPr>
              <a:t>gasRemaining</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super</a:t>
            </a:r>
            <a:r>
              <a:rPr lang="en-US" b="1" dirty="0" smtClean="0">
                <a:solidFill>
                  <a:schemeClr val="bg1"/>
                </a:solidFill>
                <a:latin typeface="Courier New" pitchFamily="49" charset="0"/>
                <a:cs typeface="Courier New" pitchFamily="49" charset="0"/>
              </a:rPr>
              <a:t>(4);</a:t>
            </a:r>
          </a:p>
          <a:p>
            <a:pPr>
              <a:buNone/>
            </a:pPr>
            <a:r>
              <a:rPr lang="en-US" b="1" dirty="0" smtClean="0">
                <a:solidFill>
                  <a:schemeClr val="bg1"/>
                </a:solidFill>
                <a:latin typeface="Courier New" pitchFamily="49" charset="0"/>
                <a:cs typeface="Courier New" pitchFamily="49" charset="0"/>
              </a:rPr>
              <a:t>			</a:t>
            </a:r>
            <a:r>
              <a:rPr lang="en-US" b="1" dirty="0" err="1" smtClean="0">
                <a:solidFill>
                  <a:srgbClr val="7030A0"/>
                </a:solidFill>
                <a:latin typeface="Courier New" pitchFamily="49" charset="0"/>
                <a:cs typeface="Courier New" pitchFamily="49" charset="0"/>
              </a:rPr>
              <a:t>this</a:t>
            </a:r>
            <a:r>
              <a:rPr lang="en-US" b="1" dirty="0" err="1" smtClean="0">
                <a:solidFill>
                  <a:schemeClr val="bg1"/>
                </a:solidFill>
                <a:latin typeface="Courier New" pitchFamily="49" charset="0"/>
                <a:cs typeface="Courier New" pitchFamily="49" charset="0"/>
              </a:rPr>
              <a:t>.numPassengers</a:t>
            </a:r>
            <a:r>
              <a:rPr lang="en-US" b="1" dirty="0" smtClean="0">
                <a:solidFill>
                  <a:schemeClr val="bg1"/>
                </a:solidFill>
                <a:latin typeface="Courier New" pitchFamily="49" charset="0"/>
                <a:cs typeface="Courier New" pitchFamily="49" charset="0"/>
              </a:rPr>
              <a:t> = </a:t>
            </a:r>
            <a:r>
              <a:rPr lang="en-US" b="1" dirty="0" err="1" smtClean="0">
                <a:solidFill>
                  <a:schemeClr val="bg1"/>
                </a:solidFill>
                <a:latin typeface="Courier New" pitchFamily="49" charset="0"/>
                <a:cs typeface="Courier New" pitchFamily="49" charset="0"/>
              </a:rPr>
              <a:t>numPassengers</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r>
              <a:rPr lang="en-US" b="1" dirty="0" err="1" smtClean="0">
                <a:solidFill>
                  <a:srgbClr val="7030A0"/>
                </a:solidFill>
                <a:latin typeface="Courier New" pitchFamily="49" charset="0"/>
                <a:cs typeface="Courier New" pitchFamily="49" charset="0"/>
              </a:rPr>
              <a:t>this</a:t>
            </a:r>
            <a:r>
              <a:rPr lang="en-US" b="1" dirty="0" err="1" smtClean="0">
                <a:solidFill>
                  <a:schemeClr val="bg1"/>
                </a:solidFill>
                <a:latin typeface="Courier New" pitchFamily="49" charset="0"/>
                <a:cs typeface="Courier New" pitchFamily="49" charset="0"/>
              </a:rPr>
              <a:t>.gasRemaining</a:t>
            </a:r>
            <a:r>
              <a:rPr lang="en-US" b="1" dirty="0" smtClean="0">
                <a:solidFill>
                  <a:schemeClr val="bg1"/>
                </a:solidFill>
                <a:latin typeface="Courier New" pitchFamily="49" charset="0"/>
                <a:cs typeface="Courier New" pitchFamily="49" charset="0"/>
              </a:rPr>
              <a:t> = </a:t>
            </a:r>
            <a:r>
              <a:rPr lang="en-US" b="1" dirty="0" err="1" smtClean="0">
                <a:solidFill>
                  <a:schemeClr val="bg1"/>
                </a:solidFill>
                <a:latin typeface="Courier New" pitchFamily="49" charset="0"/>
                <a:cs typeface="Courier New" pitchFamily="49" charset="0"/>
              </a:rPr>
              <a:t>gasRemaining</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r>
              <a:rPr lang="en-US" b="1" dirty="0" smtClean="0">
                <a:solidFill>
                  <a:schemeClr val="accent3">
                    <a:lumMod val="50000"/>
                  </a:schemeClr>
                </a:solidFill>
                <a:latin typeface="Courier New" pitchFamily="49" charset="0"/>
                <a:cs typeface="Courier New" pitchFamily="49" charset="0"/>
              </a:rPr>
              <a:t>//end constructor(</a:t>
            </a:r>
            <a:r>
              <a:rPr lang="en-US" b="1" dirty="0" err="1" smtClean="0">
                <a:solidFill>
                  <a:schemeClr val="accent3">
                    <a:lumMod val="50000"/>
                  </a:schemeClr>
                </a:solidFill>
                <a:latin typeface="Courier New" pitchFamily="49" charset="0"/>
                <a:cs typeface="Courier New" pitchFamily="49" charset="0"/>
              </a:rPr>
              <a:t>int,double</a:t>
            </a:r>
            <a:r>
              <a:rPr lang="en-US" b="1" dirty="0" smtClean="0">
                <a:solidFill>
                  <a:schemeClr val="accent3">
                    <a:lumMod val="50000"/>
                  </a:schemeClr>
                </a:solidFill>
                <a:latin typeface="Courier New" pitchFamily="49" charset="0"/>
                <a:cs typeface="Courier New" pitchFamily="49" charset="0"/>
              </a:rPr>
              <a:t>)</a:t>
            </a:r>
            <a:endParaRPr lang="en-US" b="1" dirty="0" smtClean="0">
              <a:solidFill>
                <a:schemeClr val="bg1"/>
              </a:solidFill>
              <a:latin typeface="Courier New" pitchFamily="49" charset="0"/>
              <a:cs typeface="Courier New" pitchFamily="49" charset="0"/>
            </a:endParaRP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a:t>
            </a:r>
            <a:r>
              <a:rPr lang="en-US" b="1" dirty="0" smtClean="0">
                <a:solidFill>
                  <a:schemeClr val="accent3">
                    <a:lumMod val="50000"/>
                  </a:schemeClr>
                </a:solidFill>
                <a:latin typeface="Courier New" pitchFamily="49" charset="0"/>
                <a:cs typeface="Courier New" pitchFamily="49" charset="0"/>
              </a:rPr>
              <a:t>//End class Plant</a:t>
            </a:r>
          </a:p>
          <a:p>
            <a:pPr>
              <a:buNone/>
            </a:pPr>
            <a:endParaRPr lang="en-US" b="1" dirty="0" smtClean="0">
              <a:solidFill>
                <a:schemeClr val="accent3">
                  <a:lumMod val="50000"/>
                </a:schemeClr>
              </a:solidFill>
              <a:latin typeface="Courier New" pitchFamily="49" charset="0"/>
              <a:cs typeface="Courier New" pitchFamily="49" charset="0"/>
            </a:endParaRPr>
          </a:p>
          <a:p>
            <a:pPr>
              <a:buNone/>
            </a:pPr>
            <a:r>
              <a:rPr lang="en-US" b="1" dirty="0" smtClean="0">
                <a:solidFill>
                  <a:schemeClr val="accent3">
                    <a:lumMod val="50000"/>
                  </a:schemeClr>
                </a:solidFill>
                <a:latin typeface="Courier New" pitchFamily="49" charset="0"/>
                <a:cs typeface="Courier New" pitchFamily="49"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bg1"/>
                </a:solidFill>
              </a:rPr>
              <a:t>What If the </a:t>
            </a:r>
            <a:r>
              <a:rPr lang="en-US" dirty="0" err="1" smtClean="0">
                <a:solidFill>
                  <a:schemeClr val="bg1"/>
                </a:solidFill>
              </a:rPr>
              <a:t>Superclass’s</a:t>
            </a:r>
            <a:r>
              <a:rPr lang="en-US" dirty="0" smtClean="0">
                <a:solidFill>
                  <a:schemeClr val="bg1"/>
                </a:solidFill>
              </a:rPr>
              <a:t> Method Definition Does Not Fit the Class’s?</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We can </a:t>
            </a:r>
            <a:r>
              <a:rPr lang="en-US" dirty="0" smtClean="0">
                <a:solidFill>
                  <a:srgbClr val="FF0000"/>
                </a:solidFill>
              </a:rPr>
              <a:t>override</a:t>
            </a:r>
            <a:r>
              <a:rPr lang="en-US" dirty="0" smtClean="0">
                <a:solidFill>
                  <a:schemeClr val="bg1"/>
                </a:solidFill>
              </a:rPr>
              <a:t> the definition by using the exact same function header</a:t>
            </a:r>
          </a:p>
          <a:p>
            <a:r>
              <a:rPr lang="en-US" dirty="0" smtClean="0">
                <a:solidFill>
                  <a:schemeClr val="bg1"/>
                </a:solidFill>
              </a:rPr>
              <a:t>The line directly above function header must have “</a:t>
            </a:r>
            <a:r>
              <a:rPr lang="en-US" b="1" dirty="0" smtClean="0">
                <a:solidFill>
                  <a:schemeClr val="bg1"/>
                </a:solidFill>
                <a:latin typeface="Courier New" pitchFamily="49" charset="0"/>
                <a:cs typeface="Courier New" pitchFamily="49" charset="0"/>
              </a:rPr>
              <a:t>@Override</a:t>
            </a:r>
            <a:r>
              <a:rPr lang="en-US" dirty="0" smtClean="0">
                <a:solidFill>
                  <a:schemeClr val="bg1"/>
                </a:solidFill>
              </a:rPr>
              <a:t>” only</a:t>
            </a:r>
          </a:p>
          <a:p>
            <a:r>
              <a:rPr lang="en-US" dirty="0" smtClean="0">
                <a:solidFill>
                  <a:schemeClr val="bg1"/>
                </a:solidFill>
              </a:rPr>
              <a:t>As an example, our Car class should probably use the original “move” method, rather than creating an entirely new “drive” method that does something similar</a:t>
            </a:r>
            <a:endParaRPr lang="en-US"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Override</a:t>
            </a:r>
            <a:endParaRPr lang="en-US" dirty="0">
              <a:solidFill>
                <a:schemeClr val="bg1"/>
              </a:solidFill>
            </a:endParaRPr>
          </a:p>
        </p:txBody>
      </p:sp>
      <p:sp>
        <p:nvSpPr>
          <p:cNvPr id="3" name="Content Placeholder 2"/>
          <p:cNvSpPr>
            <a:spLocks noGrp="1"/>
          </p:cNvSpPr>
          <p:nvPr>
            <p:ph idx="1"/>
          </p:nvPr>
        </p:nvSpPr>
        <p:spPr/>
        <p:txBody>
          <a:bodyPr>
            <a:normAutofit fontScale="70000" lnSpcReduction="20000"/>
          </a:bodyPr>
          <a:lstStyle/>
          <a:p>
            <a:pPr>
              <a:buNone/>
            </a:pPr>
            <a:r>
              <a:rPr lang="en-US" b="1" dirty="0" smtClean="0">
                <a:solidFill>
                  <a:srgbClr val="7030A0"/>
                </a:solidFill>
                <a:latin typeface="Courier New" pitchFamily="49" charset="0"/>
                <a:cs typeface="Courier New" pitchFamily="49" charset="0"/>
              </a:rPr>
              <a:t>public class</a:t>
            </a:r>
            <a:r>
              <a:rPr lang="en-US" b="1" dirty="0" smtClean="0">
                <a:solidFill>
                  <a:schemeClr val="bg1"/>
                </a:solidFill>
                <a:latin typeface="Courier New" pitchFamily="49" charset="0"/>
                <a:cs typeface="Courier New" pitchFamily="49" charset="0"/>
              </a:rPr>
              <a:t> Car </a:t>
            </a:r>
            <a:r>
              <a:rPr lang="en-US" b="1" dirty="0" smtClean="0">
                <a:solidFill>
                  <a:srgbClr val="7030A0"/>
                </a:solidFill>
                <a:latin typeface="Courier New" pitchFamily="49" charset="0"/>
                <a:cs typeface="Courier New" pitchFamily="49" charset="0"/>
              </a:rPr>
              <a:t>extends</a:t>
            </a:r>
            <a:r>
              <a:rPr lang="en-US" b="1" dirty="0" smtClean="0">
                <a:solidFill>
                  <a:schemeClr val="bg1"/>
                </a:solidFill>
                <a:latin typeface="Courier New" pitchFamily="49" charset="0"/>
                <a:cs typeface="Courier New" pitchFamily="49" charset="0"/>
              </a:rPr>
              <a:t> Vehicle</a:t>
            </a:r>
          </a:p>
          <a:p>
            <a:pPr>
              <a:buNone/>
            </a:pP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private </a:t>
            </a:r>
            <a:r>
              <a:rPr lang="en-US" b="1" dirty="0" err="1" smtClean="0">
                <a:solidFill>
                  <a:srgbClr val="7030A0"/>
                </a:solidFill>
                <a:latin typeface="Courier New" pitchFamily="49" charset="0"/>
                <a:cs typeface="Courier New" pitchFamily="49" charset="0"/>
              </a:rPr>
              <a:t>int</a:t>
            </a:r>
            <a:r>
              <a:rPr lang="en-US" b="1" dirty="0" smtClean="0">
                <a:solidFill>
                  <a:srgbClr val="7030A0"/>
                </a:solidFill>
                <a:latin typeface="Courier New" pitchFamily="49" charset="0"/>
                <a:cs typeface="Courier New" pitchFamily="49" charset="0"/>
              </a:rPr>
              <a:t> </a:t>
            </a:r>
            <a:r>
              <a:rPr lang="en-US" b="1" dirty="0" err="1" smtClean="0">
                <a:solidFill>
                  <a:schemeClr val="bg1"/>
                </a:solidFill>
                <a:latin typeface="Courier New" pitchFamily="49" charset="0"/>
                <a:cs typeface="Courier New" pitchFamily="49" charset="0"/>
              </a:rPr>
              <a:t>numPassengers</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private double </a:t>
            </a:r>
            <a:r>
              <a:rPr lang="en-US" b="1" dirty="0" err="1" smtClean="0">
                <a:solidFill>
                  <a:schemeClr val="bg1"/>
                </a:solidFill>
                <a:latin typeface="Courier New" pitchFamily="49" charset="0"/>
                <a:cs typeface="Courier New" pitchFamily="49" charset="0"/>
              </a:rPr>
              <a:t>gasRemaining</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a:t>
            </a:r>
            <a:r>
              <a:rPr lang="en-US" b="1" i="1" dirty="0" smtClean="0">
                <a:solidFill>
                  <a:schemeClr val="bg1"/>
                </a:solidFill>
                <a:latin typeface="Courier New" pitchFamily="49" charset="0"/>
                <a:cs typeface="Courier New" pitchFamily="49" charset="0"/>
              </a:rPr>
              <a:t>@Override</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public </a:t>
            </a:r>
            <a:r>
              <a:rPr lang="en-US" b="1" dirty="0" err="1" smtClean="0">
                <a:solidFill>
                  <a:srgbClr val="7030A0"/>
                </a:solidFill>
                <a:latin typeface="Courier New" pitchFamily="49" charset="0"/>
                <a:cs typeface="Courier New" pitchFamily="49" charset="0"/>
              </a:rPr>
              <a:t>boolean</a:t>
            </a:r>
            <a:r>
              <a:rPr lang="en-US" b="1" dirty="0" smtClean="0">
                <a:solidFill>
                  <a:schemeClr val="bg1"/>
                </a:solidFill>
                <a:latin typeface="Courier New" pitchFamily="49" charset="0"/>
                <a:cs typeface="Courier New" pitchFamily="49" charset="0"/>
              </a:rPr>
              <a:t> move(</a:t>
            </a:r>
            <a:r>
              <a:rPr lang="en-US" b="1" dirty="0" smtClean="0">
                <a:solidFill>
                  <a:srgbClr val="7030A0"/>
                </a:solidFill>
                <a:latin typeface="Courier New" pitchFamily="49" charset="0"/>
                <a:cs typeface="Courier New" pitchFamily="49" charset="0"/>
              </a:rPr>
              <a:t>double</a:t>
            </a:r>
            <a:r>
              <a:rPr lang="en-US" b="1" dirty="0" smtClean="0">
                <a:solidFill>
                  <a:schemeClr val="bg1"/>
                </a:solidFill>
                <a:latin typeface="Courier New" pitchFamily="49" charset="0"/>
                <a:cs typeface="Courier New" pitchFamily="49" charset="0"/>
              </a:rPr>
              <a:t> dist)</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accent3">
                    <a:lumMod val="50000"/>
                  </a:schemeClr>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return</a:t>
            </a:r>
            <a:r>
              <a:rPr lang="en-US" b="1" dirty="0" smtClean="0">
                <a:solidFill>
                  <a:schemeClr val="bg1"/>
                </a:solidFill>
                <a:latin typeface="Courier New" pitchFamily="49" charset="0"/>
                <a:cs typeface="Courier New" pitchFamily="49" charset="0"/>
              </a:rPr>
              <a:t> </a:t>
            </a:r>
            <a:r>
              <a:rPr lang="en-US" b="1" dirty="0" err="1" smtClean="0">
                <a:solidFill>
                  <a:srgbClr val="7030A0"/>
                </a:solidFill>
                <a:latin typeface="Courier New" pitchFamily="49" charset="0"/>
                <a:cs typeface="Courier New" pitchFamily="49" charset="0"/>
              </a:rPr>
              <a:t>super</a:t>
            </a:r>
            <a:r>
              <a:rPr lang="en-US" b="1" dirty="0" err="1" smtClean="0">
                <a:solidFill>
                  <a:schemeClr val="bg1"/>
                </a:solidFill>
                <a:latin typeface="Courier New" pitchFamily="49" charset="0"/>
                <a:cs typeface="Courier New" pitchFamily="49" charset="0"/>
              </a:rPr>
              <a:t>.move</a:t>
            </a:r>
            <a:r>
              <a:rPr lang="en-US" b="1" dirty="0" smtClean="0">
                <a:solidFill>
                  <a:schemeClr val="bg1"/>
                </a:solidFill>
                <a:latin typeface="Courier New" pitchFamily="49" charset="0"/>
                <a:cs typeface="Courier New" pitchFamily="49" charset="0"/>
              </a:rPr>
              <a:t>(dist*</a:t>
            </a:r>
            <a:r>
              <a:rPr lang="en-US" b="1" dirty="0" smtClean="0">
                <a:solidFill>
                  <a:srgbClr val="0070C0"/>
                </a:solidFill>
                <a:latin typeface="Courier New" pitchFamily="49" charset="0"/>
                <a:cs typeface="Courier New" pitchFamily="49" charset="0"/>
              </a:rPr>
              <a:t>10.0</a:t>
            </a:r>
            <a:r>
              <a:rPr lang="en-US" b="1" dirty="0" smtClean="0">
                <a:solidFill>
                  <a:schemeClr val="bg1"/>
                </a:solidFill>
                <a:latin typeface="Courier New" pitchFamily="49" charset="0"/>
                <a:cs typeface="Courier New" pitchFamily="49" charset="0"/>
              </a:rPr>
              <a:t>) &amp;&amp;</a:t>
            </a:r>
            <a:br>
              <a:rPr lang="en-US" b="1" dirty="0" smtClean="0">
                <a:solidFill>
                  <a:schemeClr val="bg1"/>
                </a:solidFill>
                <a:latin typeface="Courier New" pitchFamily="49" charset="0"/>
                <a:cs typeface="Courier New" pitchFamily="49" charset="0"/>
              </a:rPr>
            </a:br>
            <a:r>
              <a:rPr lang="en-US" b="1" dirty="0" smtClean="0">
                <a:solidFill>
                  <a:schemeClr val="bg1"/>
                </a:solidFill>
                <a:latin typeface="Courier New" pitchFamily="49" charset="0"/>
                <a:cs typeface="Courier New" pitchFamily="49" charset="0"/>
              </a:rPr>
              <a:t>				(</a:t>
            </a:r>
            <a:r>
              <a:rPr lang="en-US" b="1" dirty="0" err="1" smtClean="0">
                <a:solidFill>
                  <a:srgbClr val="7030A0"/>
                </a:solidFill>
                <a:latin typeface="Courier New" pitchFamily="49" charset="0"/>
                <a:cs typeface="Courier New" pitchFamily="49" charset="0"/>
              </a:rPr>
              <a:t>this</a:t>
            </a:r>
            <a:r>
              <a:rPr lang="en-US" b="1" dirty="0" err="1" smtClean="0">
                <a:solidFill>
                  <a:schemeClr val="bg1"/>
                </a:solidFill>
                <a:latin typeface="Courier New" pitchFamily="49" charset="0"/>
                <a:cs typeface="Courier New" pitchFamily="49" charset="0"/>
              </a:rPr>
              <a:t>.gasRemaining</a:t>
            </a:r>
            <a:r>
              <a:rPr lang="en-US" b="1" dirty="0" smtClean="0">
                <a:solidFill>
                  <a:schemeClr val="bg1"/>
                </a:solidFill>
                <a:latin typeface="Courier New" pitchFamily="49" charset="0"/>
                <a:cs typeface="Courier New" pitchFamily="49" charset="0"/>
              </a:rPr>
              <a:t> &gt; 0);</a:t>
            </a:r>
          </a:p>
          <a:p>
            <a:pPr>
              <a:buNone/>
            </a:pPr>
            <a:r>
              <a:rPr lang="en-US" b="1" dirty="0" smtClean="0">
                <a:solidFill>
                  <a:schemeClr val="bg1"/>
                </a:solidFill>
                <a:latin typeface="Courier New" pitchFamily="49" charset="0"/>
                <a:cs typeface="Courier New" pitchFamily="49" charset="0"/>
              </a:rPr>
              <a:t>		}</a:t>
            </a:r>
            <a:r>
              <a:rPr lang="en-US" b="1" dirty="0" smtClean="0">
                <a:solidFill>
                  <a:schemeClr val="accent3">
                    <a:lumMod val="50000"/>
                  </a:schemeClr>
                </a:solidFill>
                <a:latin typeface="Courier New" pitchFamily="49" charset="0"/>
                <a:cs typeface="Courier New" pitchFamily="49" charset="0"/>
              </a:rPr>
              <a:t>//end function(double)</a:t>
            </a:r>
            <a:endParaRPr lang="en-US" b="1" dirty="0" smtClean="0">
              <a:solidFill>
                <a:schemeClr val="bg1"/>
              </a:solidFill>
              <a:latin typeface="Courier New" pitchFamily="49" charset="0"/>
              <a:cs typeface="Courier New" pitchFamily="49" charset="0"/>
            </a:endParaRP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a:t>
            </a:r>
            <a:r>
              <a:rPr lang="en-US" b="1" dirty="0" smtClean="0">
                <a:solidFill>
                  <a:schemeClr val="accent3">
                    <a:lumMod val="50000"/>
                  </a:schemeClr>
                </a:solidFill>
                <a:latin typeface="Courier New" pitchFamily="49" charset="0"/>
                <a:cs typeface="Courier New" pitchFamily="49" charset="0"/>
              </a:rPr>
              <a:t>//End class Plant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Overriding</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I can still reference the original method using the </a:t>
            </a:r>
            <a:r>
              <a:rPr lang="en-US" b="1" dirty="0" smtClean="0">
                <a:solidFill>
                  <a:srgbClr val="7030A0"/>
                </a:solidFill>
                <a:latin typeface="Courier New" pitchFamily="49" charset="0"/>
                <a:cs typeface="Courier New" pitchFamily="49" charset="0"/>
              </a:rPr>
              <a:t>super</a:t>
            </a:r>
            <a:r>
              <a:rPr lang="en-US" dirty="0" smtClean="0">
                <a:solidFill>
                  <a:schemeClr val="bg1"/>
                </a:solidFill>
              </a:rPr>
              <a:t> keyword</a:t>
            </a:r>
          </a:p>
          <a:p>
            <a:r>
              <a:rPr lang="en-US" dirty="0" smtClean="0">
                <a:solidFill>
                  <a:schemeClr val="bg1"/>
                </a:solidFill>
              </a:rPr>
              <a:t>Unless your overridden method totally discards the functionality of the </a:t>
            </a:r>
            <a:r>
              <a:rPr lang="en-US" dirty="0" err="1" smtClean="0">
                <a:solidFill>
                  <a:schemeClr val="bg1"/>
                </a:solidFill>
              </a:rPr>
              <a:t>superclass’s</a:t>
            </a:r>
            <a:r>
              <a:rPr lang="en-US" dirty="0" smtClean="0">
                <a:solidFill>
                  <a:schemeClr val="bg1"/>
                </a:solidFill>
              </a:rPr>
              <a:t> method, you should call the </a:t>
            </a:r>
            <a:r>
              <a:rPr lang="en-US" dirty="0" err="1" smtClean="0">
                <a:solidFill>
                  <a:schemeClr val="bg1"/>
                </a:solidFill>
              </a:rPr>
              <a:t>superclass’s</a:t>
            </a:r>
            <a:r>
              <a:rPr lang="en-US" dirty="0" smtClean="0">
                <a:solidFill>
                  <a:schemeClr val="bg1"/>
                </a:solidFill>
              </a:rPr>
              <a:t> method at least once</a:t>
            </a:r>
            <a:endParaRPr lang="en-US"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Note</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You cannot override constructors</a:t>
            </a:r>
            <a:endParaRPr lang="en-US"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Ownership</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Ownership is simply one class using another as a property</a:t>
            </a:r>
          </a:p>
          <a:p>
            <a:r>
              <a:rPr lang="en-US" dirty="0" smtClean="0">
                <a:solidFill>
                  <a:schemeClr val="bg1"/>
                </a:solidFill>
              </a:rPr>
              <a:t>A Car may have an Engine, a Radio, and an Owner, depending on what you need</a:t>
            </a:r>
          </a:p>
          <a:p>
            <a:r>
              <a:rPr lang="en-US" dirty="0" smtClean="0">
                <a:solidFill>
                  <a:schemeClr val="bg1"/>
                </a:solidFill>
              </a:rPr>
              <a:t>A Car’s </a:t>
            </a:r>
            <a:r>
              <a:rPr lang="en-US" dirty="0" err="1" smtClean="0">
                <a:solidFill>
                  <a:schemeClr val="bg1"/>
                </a:solidFill>
              </a:rPr>
              <a:t>superclass</a:t>
            </a:r>
            <a:r>
              <a:rPr lang="en-US" dirty="0" smtClean="0">
                <a:solidFill>
                  <a:schemeClr val="bg1"/>
                </a:solidFill>
              </a:rPr>
              <a:t> and subclasses certainly are not Engine, Radio, and Owner</a:t>
            </a:r>
            <a:endParaRPr lang="en-US"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solidFill>
                  <a:schemeClr val="bg1"/>
                </a:solidFill>
              </a:rPr>
              <a:t>Using the Classes</a:t>
            </a: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US" b="1" dirty="0" smtClean="0">
                <a:solidFill>
                  <a:srgbClr val="7030A0"/>
                </a:solidFill>
                <a:latin typeface="Courier New" pitchFamily="49" charset="0"/>
                <a:cs typeface="Courier New" pitchFamily="49" charset="0"/>
              </a:rPr>
              <a:t>public class</a:t>
            </a:r>
            <a:r>
              <a:rPr lang="en-US" b="1" dirty="0" smtClean="0">
                <a:solidFill>
                  <a:schemeClr val="bg1"/>
                </a:solidFill>
                <a:latin typeface="Courier New" pitchFamily="49" charset="0"/>
                <a:cs typeface="Courier New" pitchFamily="49" charset="0"/>
              </a:rPr>
              <a:t> Garage</a:t>
            </a:r>
          </a:p>
          <a:p>
            <a:pPr>
              <a:buNone/>
            </a:pP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private </a:t>
            </a:r>
            <a:r>
              <a:rPr lang="en-US" b="1" dirty="0" smtClean="0">
                <a:solidFill>
                  <a:schemeClr val="bg1"/>
                </a:solidFill>
                <a:latin typeface="Courier New" pitchFamily="49" charset="0"/>
                <a:cs typeface="Courier New" pitchFamily="49" charset="0"/>
              </a:rPr>
              <a:t>Vehicle[] vehicles;</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public </a:t>
            </a:r>
            <a:r>
              <a:rPr lang="en-US" b="1" dirty="0" smtClean="0">
                <a:solidFill>
                  <a:schemeClr val="bg1"/>
                </a:solidFill>
                <a:latin typeface="Courier New" pitchFamily="49" charset="0"/>
                <a:cs typeface="Courier New" pitchFamily="49" charset="0"/>
              </a:rPr>
              <a:t>Garage(</a:t>
            </a:r>
            <a:r>
              <a:rPr lang="en-US" b="1" dirty="0" err="1" smtClean="0">
                <a:solidFill>
                  <a:srgbClr val="7030A0"/>
                </a:solidFill>
                <a:latin typeface="Courier New" pitchFamily="49" charset="0"/>
                <a:cs typeface="Courier New" pitchFamily="49" charset="0"/>
              </a:rPr>
              <a:t>int</a:t>
            </a:r>
            <a:r>
              <a:rPr lang="en-US" b="1" dirty="0" smtClean="0">
                <a:solidFill>
                  <a:schemeClr val="bg1"/>
                </a:solidFill>
                <a:latin typeface="Courier New" pitchFamily="49" charset="0"/>
                <a:cs typeface="Courier New" pitchFamily="49" charset="0"/>
              </a:rPr>
              <a:t> capacity)</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a:t>
            </a:r>
            <a:r>
              <a:rPr lang="en-US" b="1" dirty="0" err="1" smtClean="0">
                <a:solidFill>
                  <a:srgbClr val="7030A0"/>
                </a:solidFill>
                <a:latin typeface="Courier New" pitchFamily="49" charset="0"/>
                <a:cs typeface="Courier New" pitchFamily="49" charset="0"/>
              </a:rPr>
              <a:t>this</a:t>
            </a:r>
            <a:r>
              <a:rPr lang="en-US" b="1" dirty="0" err="1" smtClean="0">
                <a:solidFill>
                  <a:schemeClr val="bg1"/>
                </a:solidFill>
                <a:latin typeface="Courier New" pitchFamily="49" charset="0"/>
                <a:cs typeface="Courier New" pitchFamily="49" charset="0"/>
              </a:rPr>
              <a:t>.vehicles</a:t>
            </a:r>
            <a:r>
              <a:rPr lang="en-US" b="1" dirty="0" smtClean="0">
                <a:solidFill>
                  <a:schemeClr val="bg1"/>
                </a:solidFill>
                <a:latin typeface="Courier New" pitchFamily="49" charset="0"/>
                <a:cs typeface="Courier New" pitchFamily="49" charset="0"/>
              </a:rPr>
              <a:t> = </a:t>
            </a:r>
            <a:r>
              <a:rPr lang="en-US" b="1" dirty="0" smtClean="0">
                <a:solidFill>
                  <a:srgbClr val="7030A0"/>
                </a:solidFill>
                <a:latin typeface="Courier New" pitchFamily="49" charset="0"/>
                <a:cs typeface="Courier New" pitchFamily="49" charset="0"/>
              </a:rPr>
              <a:t>new </a:t>
            </a:r>
            <a:r>
              <a:rPr lang="en-US" b="1" dirty="0" smtClean="0">
                <a:solidFill>
                  <a:schemeClr val="bg1"/>
                </a:solidFill>
                <a:latin typeface="Courier New" pitchFamily="49" charset="0"/>
                <a:cs typeface="Courier New" pitchFamily="49" charset="0"/>
              </a:rPr>
              <a:t>Vehicle[capacity];</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for</a:t>
            </a:r>
            <a:r>
              <a:rPr lang="en-US" b="1" dirty="0" smtClean="0">
                <a:solidFill>
                  <a:schemeClr val="bg1"/>
                </a:solidFill>
                <a:latin typeface="Courier New" pitchFamily="49" charset="0"/>
                <a:cs typeface="Courier New" pitchFamily="49" charset="0"/>
              </a:rPr>
              <a:t>(</a:t>
            </a:r>
            <a:r>
              <a:rPr lang="en-US" b="1" dirty="0" err="1" smtClean="0">
                <a:solidFill>
                  <a:srgbClr val="7030A0"/>
                </a:solidFill>
                <a:latin typeface="Courier New" pitchFamily="49" charset="0"/>
                <a:cs typeface="Courier New" pitchFamily="49" charset="0"/>
              </a:rPr>
              <a:t>int</a:t>
            </a:r>
            <a:r>
              <a:rPr lang="en-US" b="1" dirty="0" smtClean="0">
                <a:solidFill>
                  <a:srgbClr val="7030A0"/>
                </a:solidFill>
                <a:latin typeface="Courier New" pitchFamily="49" charset="0"/>
                <a:cs typeface="Courier New" pitchFamily="49" charset="0"/>
              </a:rPr>
              <a:t> </a:t>
            </a:r>
            <a:r>
              <a:rPr lang="en-US" b="1" dirty="0" err="1" smtClean="0">
                <a:solidFill>
                  <a:schemeClr val="bg1"/>
                </a:solidFill>
                <a:latin typeface="Courier New" pitchFamily="49" charset="0"/>
                <a:cs typeface="Courier New" pitchFamily="49" charset="0"/>
              </a:rPr>
              <a:t>i</a:t>
            </a:r>
            <a:r>
              <a:rPr lang="en-US" b="1" dirty="0" smtClean="0">
                <a:solidFill>
                  <a:schemeClr val="bg1"/>
                </a:solidFill>
                <a:latin typeface="Courier New" pitchFamily="49" charset="0"/>
                <a:cs typeface="Courier New" pitchFamily="49" charset="0"/>
              </a:rPr>
              <a:t> = </a:t>
            </a:r>
            <a:r>
              <a:rPr lang="en-US" b="1" dirty="0" smtClean="0">
                <a:solidFill>
                  <a:srgbClr val="0070C0"/>
                </a:solidFill>
                <a:latin typeface="Courier New" pitchFamily="49" charset="0"/>
                <a:cs typeface="Courier New" pitchFamily="49" charset="0"/>
              </a:rPr>
              <a:t>0</a:t>
            </a:r>
            <a:r>
              <a:rPr lang="en-US" b="1" dirty="0" smtClean="0">
                <a:solidFill>
                  <a:schemeClr val="bg1"/>
                </a:solidFill>
                <a:latin typeface="Courier New" pitchFamily="49" charset="0"/>
                <a:cs typeface="Courier New" pitchFamily="49" charset="0"/>
              </a:rPr>
              <a:t>; </a:t>
            </a:r>
            <a:r>
              <a:rPr lang="en-US" b="1" dirty="0" err="1" smtClean="0">
                <a:solidFill>
                  <a:schemeClr val="bg1"/>
                </a:solidFill>
                <a:latin typeface="Courier New" pitchFamily="49" charset="0"/>
                <a:cs typeface="Courier New" pitchFamily="49" charset="0"/>
              </a:rPr>
              <a:t>i</a:t>
            </a:r>
            <a:r>
              <a:rPr lang="en-US" b="1" dirty="0" smtClean="0">
                <a:solidFill>
                  <a:schemeClr val="bg1"/>
                </a:solidFill>
                <a:latin typeface="Courier New" pitchFamily="49" charset="0"/>
                <a:cs typeface="Courier New" pitchFamily="49" charset="0"/>
              </a:rPr>
              <a:t> &lt; </a:t>
            </a:r>
            <a:r>
              <a:rPr lang="en-US" b="1" dirty="0" err="1" smtClean="0">
                <a:solidFill>
                  <a:schemeClr val="bg1"/>
                </a:solidFill>
                <a:latin typeface="Courier New" pitchFamily="49" charset="0"/>
                <a:cs typeface="Courier New" pitchFamily="49" charset="0"/>
              </a:rPr>
              <a:t>vehicles.length</a:t>
            </a:r>
            <a:r>
              <a:rPr lang="en-US" b="1" dirty="0" smtClean="0">
                <a:solidFill>
                  <a:schemeClr val="bg1"/>
                </a:solidFill>
                <a:latin typeface="Courier New" pitchFamily="49" charset="0"/>
                <a:cs typeface="Courier New" pitchFamily="49" charset="0"/>
              </a:rPr>
              <a:t>; </a:t>
            </a:r>
            <a:r>
              <a:rPr lang="en-US" b="1" dirty="0" err="1" smtClean="0">
                <a:solidFill>
                  <a:schemeClr val="bg1"/>
                </a:solidFill>
                <a:latin typeface="Courier New" pitchFamily="49" charset="0"/>
                <a:cs typeface="Courier New" pitchFamily="49" charset="0"/>
              </a:rPr>
              <a:t>i</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vehicles[</a:t>
            </a:r>
            <a:r>
              <a:rPr lang="en-US" b="1" dirty="0" err="1" smtClean="0">
                <a:solidFill>
                  <a:schemeClr val="bg1"/>
                </a:solidFill>
                <a:latin typeface="Courier New" pitchFamily="49" charset="0"/>
                <a:cs typeface="Courier New" pitchFamily="49" charset="0"/>
              </a:rPr>
              <a:t>i</a:t>
            </a:r>
            <a:r>
              <a:rPr lang="en-US" b="1" dirty="0" smtClean="0">
                <a:solidFill>
                  <a:schemeClr val="bg1"/>
                </a:solidFill>
                <a:latin typeface="Courier New" pitchFamily="49" charset="0"/>
                <a:cs typeface="Courier New" pitchFamily="49" charset="0"/>
              </a:rPr>
              <a:t>] = </a:t>
            </a:r>
            <a:r>
              <a:rPr lang="en-US" b="1" dirty="0" smtClean="0">
                <a:solidFill>
                  <a:srgbClr val="7030A0"/>
                </a:solidFill>
                <a:latin typeface="Courier New" pitchFamily="49" charset="0"/>
                <a:cs typeface="Courier New" pitchFamily="49" charset="0"/>
              </a:rPr>
              <a:t>null</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a:t>
            </a:r>
            <a:r>
              <a:rPr lang="en-US" b="1" dirty="0" smtClean="0">
                <a:solidFill>
                  <a:schemeClr val="accent3">
                    <a:lumMod val="50000"/>
                  </a:schemeClr>
                </a:solidFill>
                <a:latin typeface="Courier New" pitchFamily="49" charset="0"/>
                <a:cs typeface="Courier New" pitchFamily="49" charset="0"/>
              </a:rPr>
              <a:t>//end constructor(</a:t>
            </a:r>
            <a:r>
              <a:rPr lang="en-US" b="1" dirty="0" err="1" smtClean="0">
                <a:solidFill>
                  <a:schemeClr val="accent3">
                    <a:lumMod val="50000"/>
                  </a:schemeClr>
                </a:solidFill>
                <a:latin typeface="Courier New" pitchFamily="49" charset="0"/>
                <a:cs typeface="Courier New" pitchFamily="49" charset="0"/>
              </a:rPr>
              <a:t>int</a:t>
            </a:r>
            <a:r>
              <a:rPr lang="en-US" b="1" dirty="0" smtClean="0">
                <a:solidFill>
                  <a:schemeClr val="accent3">
                    <a:lumMod val="50000"/>
                  </a:schemeClr>
                </a:solidFill>
                <a:latin typeface="Courier New" pitchFamily="49" charset="0"/>
                <a:cs typeface="Courier New" pitchFamily="49" charset="0"/>
              </a:rPr>
              <a:t>)</a:t>
            </a:r>
            <a:endParaRPr lang="en-US" b="1" dirty="0" smtClean="0">
              <a:solidFill>
                <a:schemeClr val="bg1"/>
              </a:solidFill>
              <a:latin typeface="Courier New" pitchFamily="49" charset="0"/>
              <a:cs typeface="Courier New" pitchFamily="49" charset="0"/>
            </a:endParaRP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a:t>
            </a:r>
            <a:r>
              <a:rPr lang="en-US" b="1" dirty="0" smtClean="0">
                <a:solidFill>
                  <a:schemeClr val="accent3">
                    <a:lumMod val="50000"/>
                  </a:schemeClr>
                </a:solidFill>
                <a:latin typeface="Courier New" pitchFamily="49" charset="0"/>
                <a:cs typeface="Courier New" pitchFamily="49" charset="0"/>
              </a:rPr>
              <a:t>//End class Garage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Using the Classes</a:t>
            </a:r>
            <a:endParaRPr lang="en-US" dirty="0">
              <a:solidFill>
                <a:schemeClr val="bg1"/>
              </a:solidFill>
            </a:endParaRPr>
          </a:p>
        </p:txBody>
      </p:sp>
      <p:sp>
        <p:nvSpPr>
          <p:cNvPr id="3" name="Content Placeholder 2"/>
          <p:cNvSpPr>
            <a:spLocks noGrp="1"/>
          </p:cNvSpPr>
          <p:nvPr>
            <p:ph idx="1"/>
          </p:nvPr>
        </p:nvSpPr>
        <p:spPr>
          <a:xfrm>
            <a:off x="457200" y="1600200"/>
            <a:ext cx="8229600" cy="4724400"/>
          </a:xfrm>
        </p:spPr>
        <p:txBody>
          <a:bodyPr>
            <a:normAutofit fontScale="55000" lnSpcReduction="20000"/>
          </a:bodyPr>
          <a:lstStyle/>
          <a:p>
            <a:pPr>
              <a:buNone/>
            </a:pPr>
            <a:r>
              <a:rPr lang="en-US" b="1" dirty="0" smtClean="0">
                <a:solidFill>
                  <a:srgbClr val="7030A0"/>
                </a:solidFill>
                <a:latin typeface="Courier New" pitchFamily="49" charset="0"/>
                <a:cs typeface="Courier New" pitchFamily="49" charset="0"/>
              </a:rPr>
              <a:t>public class</a:t>
            </a:r>
            <a:r>
              <a:rPr lang="en-US" b="1" dirty="0" smtClean="0">
                <a:solidFill>
                  <a:schemeClr val="bg1"/>
                </a:solidFill>
                <a:latin typeface="Courier New" pitchFamily="49" charset="0"/>
                <a:cs typeface="Courier New" pitchFamily="49" charset="0"/>
              </a:rPr>
              <a:t> Garage</a:t>
            </a:r>
          </a:p>
          <a:p>
            <a:pPr>
              <a:buNone/>
            </a:pP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endParaRPr lang="en-US" b="1" dirty="0" smtClean="0">
              <a:solidFill>
                <a:srgbClr val="7030A0"/>
              </a:solidFill>
              <a:latin typeface="Courier New" pitchFamily="49" charset="0"/>
              <a:cs typeface="Courier New" pitchFamily="49" charset="0"/>
            </a:endParaRPr>
          </a:p>
          <a:p>
            <a:pPr>
              <a:buNone/>
            </a:pPr>
            <a:r>
              <a:rPr lang="en-US" b="1" dirty="0" smtClean="0">
                <a:solidFill>
                  <a:srgbClr val="7030A0"/>
                </a:solidFill>
                <a:latin typeface="Courier New" pitchFamily="49" charset="0"/>
                <a:cs typeface="Courier New" pitchFamily="49" charset="0"/>
              </a:rPr>
              <a:t>		public </a:t>
            </a:r>
            <a:r>
              <a:rPr lang="en-US" b="1" dirty="0" err="1" smtClean="0">
                <a:solidFill>
                  <a:srgbClr val="7030A0"/>
                </a:solidFill>
                <a:latin typeface="Courier New" pitchFamily="49" charset="0"/>
                <a:cs typeface="Courier New" pitchFamily="49" charset="0"/>
              </a:rPr>
              <a:t>boolean</a:t>
            </a:r>
            <a:r>
              <a:rPr lang="en-US" b="1" dirty="0" smtClean="0">
                <a:solidFill>
                  <a:srgbClr val="7030A0"/>
                </a:solidFill>
                <a:latin typeface="Courier New" pitchFamily="49" charset="0"/>
                <a:cs typeface="Courier New" pitchFamily="49" charset="0"/>
              </a:rPr>
              <a:t> </a:t>
            </a:r>
            <a:r>
              <a:rPr lang="en-US" b="1" dirty="0" err="1" smtClean="0">
                <a:solidFill>
                  <a:schemeClr val="bg1"/>
                </a:solidFill>
                <a:latin typeface="Courier New" pitchFamily="49" charset="0"/>
                <a:cs typeface="Courier New" pitchFamily="49" charset="0"/>
              </a:rPr>
              <a:t>addVehicle</a:t>
            </a:r>
            <a:r>
              <a:rPr lang="en-US" b="1" dirty="0" smtClean="0">
                <a:solidFill>
                  <a:schemeClr val="bg1"/>
                </a:solidFill>
                <a:latin typeface="Courier New" pitchFamily="49" charset="0"/>
                <a:cs typeface="Courier New" pitchFamily="49" charset="0"/>
              </a:rPr>
              <a:t>(Vehicle </a:t>
            </a:r>
            <a:r>
              <a:rPr lang="en-US" b="1" dirty="0" err="1" smtClean="0">
                <a:solidFill>
                  <a:schemeClr val="bg1"/>
                </a:solidFill>
                <a:latin typeface="Courier New" pitchFamily="49" charset="0"/>
                <a:cs typeface="Courier New" pitchFamily="49" charset="0"/>
              </a:rPr>
              <a:t>vehicle</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a:t>
            </a:r>
            <a:r>
              <a:rPr lang="en-US" b="1" dirty="0" smtClean="0">
                <a:solidFill>
                  <a:schemeClr val="accent3">
                    <a:lumMod val="50000"/>
                  </a:schemeClr>
                </a:solidFill>
                <a:latin typeface="Courier New" pitchFamily="49" charset="0"/>
                <a:cs typeface="Courier New" pitchFamily="49" charset="0"/>
              </a:rPr>
              <a:t>//Note: there is a better way!</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for</a:t>
            </a:r>
            <a:r>
              <a:rPr lang="en-US" b="1" dirty="0" smtClean="0">
                <a:solidFill>
                  <a:schemeClr val="bg1"/>
                </a:solidFill>
                <a:latin typeface="Courier New" pitchFamily="49" charset="0"/>
                <a:cs typeface="Courier New" pitchFamily="49" charset="0"/>
              </a:rPr>
              <a:t>(</a:t>
            </a:r>
            <a:r>
              <a:rPr lang="en-US" b="1" dirty="0" err="1" smtClean="0">
                <a:solidFill>
                  <a:srgbClr val="7030A0"/>
                </a:solidFill>
                <a:latin typeface="Courier New" pitchFamily="49" charset="0"/>
                <a:cs typeface="Courier New" pitchFamily="49" charset="0"/>
              </a:rPr>
              <a:t>int</a:t>
            </a:r>
            <a:r>
              <a:rPr lang="en-US" b="1" dirty="0" smtClean="0">
                <a:solidFill>
                  <a:schemeClr val="bg1"/>
                </a:solidFill>
                <a:latin typeface="Courier New" pitchFamily="49" charset="0"/>
                <a:cs typeface="Courier New" pitchFamily="49" charset="0"/>
              </a:rPr>
              <a:t> </a:t>
            </a:r>
            <a:r>
              <a:rPr lang="en-US" b="1" dirty="0" err="1" smtClean="0">
                <a:solidFill>
                  <a:schemeClr val="bg1"/>
                </a:solidFill>
                <a:latin typeface="Courier New" pitchFamily="49" charset="0"/>
                <a:cs typeface="Courier New" pitchFamily="49" charset="0"/>
              </a:rPr>
              <a:t>i</a:t>
            </a:r>
            <a:r>
              <a:rPr lang="en-US" b="1" dirty="0" smtClean="0">
                <a:solidFill>
                  <a:schemeClr val="bg1"/>
                </a:solidFill>
                <a:latin typeface="Courier New" pitchFamily="49" charset="0"/>
                <a:cs typeface="Courier New" pitchFamily="49" charset="0"/>
              </a:rPr>
              <a:t> = </a:t>
            </a:r>
            <a:r>
              <a:rPr lang="en-US" b="1" dirty="0" smtClean="0">
                <a:solidFill>
                  <a:srgbClr val="0070C0"/>
                </a:solidFill>
                <a:latin typeface="Courier New" pitchFamily="49" charset="0"/>
                <a:cs typeface="Courier New" pitchFamily="49" charset="0"/>
              </a:rPr>
              <a:t>0</a:t>
            </a:r>
            <a:r>
              <a:rPr lang="en-US" b="1" dirty="0" smtClean="0">
                <a:solidFill>
                  <a:schemeClr val="bg1"/>
                </a:solidFill>
                <a:latin typeface="Courier New" pitchFamily="49" charset="0"/>
                <a:cs typeface="Courier New" pitchFamily="49" charset="0"/>
              </a:rPr>
              <a:t>; </a:t>
            </a:r>
            <a:r>
              <a:rPr lang="en-US" b="1" dirty="0" err="1" smtClean="0">
                <a:solidFill>
                  <a:schemeClr val="bg1"/>
                </a:solidFill>
                <a:latin typeface="Courier New" pitchFamily="49" charset="0"/>
                <a:cs typeface="Courier New" pitchFamily="49" charset="0"/>
              </a:rPr>
              <a:t>i</a:t>
            </a:r>
            <a:r>
              <a:rPr lang="en-US" b="1" dirty="0" smtClean="0">
                <a:solidFill>
                  <a:schemeClr val="bg1"/>
                </a:solidFill>
                <a:latin typeface="Courier New" pitchFamily="49" charset="0"/>
                <a:cs typeface="Courier New" pitchFamily="49" charset="0"/>
              </a:rPr>
              <a:t> &lt; </a:t>
            </a:r>
            <a:r>
              <a:rPr lang="en-US" b="1" dirty="0" err="1" smtClean="0">
                <a:solidFill>
                  <a:schemeClr val="bg1"/>
                </a:solidFill>
                <a:latin typeface="Courier New" pitchFamily="49" charset="0"/>
                <a:cs typeface="Courier New" pitchFamily="49" charset="0"/>
              </a:rPr>
              <a:t>vehicles.length</a:t>
            </a:r>
            <a:r>
              <a:rPr lang="en-US" b="1" dirty="0" smtClean="0">
                <a:solidFill>
                  <a:schemeClr val="bg1"/>
                </a:solidFill>
                <a:latin typeface="Courier New" pitchFamily="49" charset="0"/>
                <a:cs typeface="Courier New" pitchFamily="49" charset="0"/>
              </a:rPr>
              <a:t>; </a:t>
            </a:r>
            <a:r>
              <a:rPr lang="en-US" b="1" dirty="0" err="1" smtClean="0">
                <a:solidFill>
                  <a:schemeClr val="bg1"/>
                </a:solidFill>
                <a:latin typeface="Courier New" pitchFamily="49" charset="0"/>
                <a:cs typeface="Courier New" pitchFamily="49" charset="0"/>
              </a:rPr>
              <a:t>i</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if</a:t>
            </a:r>
            <a:r>
              <a:rPr lang="en-US" b="1" dirty="0" smtClean="0">
                <a:solidFill>
                  <a:schemeClr val="bg1"/>
                </a:solidFill>
                <a:latin typeface="Courier New" pitchFamily="49" charset="0"/>
                <a:cs typeface="Courier New" pitchFamily="49" charset="0"/>
              </a:rPr>
              <a:t>(vehicles[</a:t>
            </a:r>
            <a:r>
              <a:rPr lang="en-US" b="1" dirty="0" err="1" smtClean="0">
                <a:solidFill>
                  <a:schemeClr val="bg1"/>
                </a:solidFill>
                <a:latin typeface="Courier New" pitchFamily="49" charset="0"/>
                <a:cs typeface="Courier New" pitchFamily="49" charset="0"/>
              </a:rPr>
              <a:t>i</a:t>
            </a:r>
            <a:r>
              <a:rPr lang="en-US" b="1" dirty="0" smtClean="0">
                <a:solidFill>
                  <a:schemeClr val="bg1"/>
                </a:solidFill>
                <a:latin typeface="Courier New" pitchFamily="49" charset="0"/>
                <a:cs typeface="Courier New" pitchFamily="49" charset="0"/>
              </a:rPr>
              <a:t>] == </a:t>
            </a:r>
            <a:r>
              <a:rPr lang="en-US" b="1" dirty="0" smtClean="0">
                <a:solidFill>
                  <a:srgbClr val="7030A0"/>
                </a:solidFill>
                <a:latin typeface="Courier New" pitchFamily="49" charset="0"/>
                <a:cs typeface="Courier New" pitchFamily="49" charset="0"/>
              </a:rPr>
              <a:t>null</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vehicles[</a:t>
            </a:r>
            <a:r>
              <a:rPr lang="en-US" b="1" dirty="0" err="1" smtClean="0">
                <a:solidFill>
                  <a:schemeClr val="bg1"/>
                </a:solidFill>
                <a:latin typeface="Courier New" pitchFamily="49" charset="0"/>
                <a:cs typeface="Courier New" pitchFamily="49" charset="0"/>
              </a:rPr>
              <a:t>i</a:t>
            </a:r>
            <a:r>
              <a:rPr lang="en-US" b="1" dirty="0" smtClean="0">
                <a:solidFill>
                  <a:schemeClr val="bg1"/>
                </a:solidFill>
                <a:latin typeface="Courier New" pitchFamily="49" charset="0"/>
                <a:cs typeface="Courier New" pitchFamily="49" charset="0"/>
              </a:rPr>
              <a:t>] = vehicle;</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return true</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a:t>
            </a:r>
          </a:p>
          <a:p>
            <a:pPr>
              <a:buNone/>
            </a:pPr>
            <a:r>
              <a:rPr lang="en-US" b="1" dirty="0" smtClean="0">
                <a:solidFill>
                  <a:schemeClr val="bg1"/>
                </a:solidFill>
                <a:latin typeface="Courier New" pitchFamily="49" charset="0"/>
                <a:cs typeface="Courier New" pitchFamily="49" charset="0"/>
              </a:rPr>
              <a:t>			</a:t>
            </a:r>
            <a:r>
              <a:rPr lang="en-US" b="1" dirty="0" smtClean="0">
                <a:solidFill>
                  <a:srgbClr val="7030A0"/>
                </a:solidFill>
                <a:latin typeface="Courier New" pitchFamily="49" charset="0"/>
                <a:cs typeface="Courier New" pitchFamily="49" charset="0"/>
              </a:rPr>
              <a:t>return false</a:t>
            </a:r>
            <a:r>
              <a:rPr lang="en-US" b="1" dirty="0" smtClean="0">
                <a:solidFill>
                  <a:schemeClr val="bg1"/>
                </a:solidFill>
                <a:latin typeface="Courier New" pitchFamily="49" charset="0"/>
                <a:cs typeface="Courier New" pitchFamily="49" charset="0"/>
              </a:rPr>
              <a:t>;</a:t>
            </a:r>
          </a:p>
          <a:p>
            <a:pPr>
              <a:buNone/>
            </a:pPr>
            <a:r>
              <a:rPr lang="en-US" b="1" dirty="0" smtClean="0">
                <a:solidFill>
                  <a:schemeClr val="bg1"/>
                </a:solidFill>
                <a:latin typeface="Courier New" pitchFamily="49" charset="0"/>
                <a:cs typeface="Courier New" pitchFamily="49" charset="0"/>
              </a:rPr>
              <a:t>		}</a:t>
            </a:r>
            <a:r>
              <a:rPr lang="en-US" b="1" dirty="0" smtClean="0">
                <a:solidFill>
                  <a:schemeClr val="accent3">
                    <a:lumMod val="50000"/>
                  </a:schemeClr>
                </a:solidFill>
                <a:latin typeface="Courier New" pitchFamily="49" charset="0"/>
                <a:cs typeface="Courier New" pitchFamily="49" charset="0"/>
              </a:rPr>
              <a:t>//end method(Vehicle)</a:t>
            </a:r>
          </a:p>
          <a:p>
            <a:pPr>
              <a:buNone/>
            </a:pPr>
            <a:r>
              <a:rPr lang="en-US" b="1" dirty="0" smtClean="0">
                <a:solidFill>
                  <a:schemeClr val="bg1"/>
                </a:solidFill>
                <a:latin typeface="Courier New" pitchFamily="49" charset="0"/>
                <a:cs typeface="Courier New" pitchFamily="49" charset="0"/>
              </a:rPr>
              <a:t>}</a:t>
            </a:r>
            <a:r>
              <a:rPr lang="en-US" b="1" dirty="0" smtClean="0">
                <a:solidFill>
                  <a:schemeClr val="accent3">
                    <a:lumMod val="50000"/>
                  </a:schemeClr>
                </a:solidFill>
                <a:latin typeface="Courier New" pitchFamily="49" charset="0"/>
                <a:cs typeface="Courier New" pitchFamily="49" charset="0"/>
              </a:rPr>
              <a:t>//End class Garage</a:t>
            </a:r>
            <a:endParaRPr lang="en-US" b="1" dirty="0" smtClean="0">
              <a:solidFill>
                <a:schemeClr val="bg1"/>
              </a:solidFill>
              <a:latin typeface="Courier New" pitchFamily="49" charset="0"/>
              <a:cs typeface="Courier New" pitchFamily="49" charset="0"/>
            </a:endParaRPr>
          </a:p>
          <a:p>
            <a:pPr>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bg1"/>
                </a:solidFill>
              </a:rPr>
              <a:t>Questions?</a:t>
            </a:r>
            <a:endParaRPr lang="en-US" dirty="0">
              <a:solidFill>
                <a:schemeClr val="bg1"/>
              </a:solidFill>
            </a:endParaRPr>
          </a:p>
        </p:txBody>
      </p:sp>
      <p:sp>
        <p:nvSpPr>
          <p:cNvPr id="5" name="Text Placeholder 4"/>
          <p:cNvSpPr>
            <a:spLocks noGrp="1"/>
          </p:cNvSpPr>
          <p:nvPr>
            <p:ph type="body" idx="1"/>
          </p:nvPr>
        </p:nvSpPr>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Modeling a Problem</a:t>
            </a:r>
            <a:endParaRPr lang="en-US" dirty="0">
              <a:solidFill>
                <a:schemeClr val="bg1"/>
              </a:solidFill>
            </a:endParaRPr>
          </a:p>
        </p:txBody>
      </p:sp>
      <p:sp>
        <p:nvSpPr>
          <p:cNvPr id="3" name="Content Placeholder 2"/>
          <p:cNvSpPr>
            <a:spLocks noGrp="1"/>
          </p:cNvSpPr>
          <p:nvPr>
            <p:ph idx="1"/>
          </p:nvPr>
        </p:nvSpPr>
        <p:spPr/>
        <p:txBody>
          <a:bodyPr>
            <a:normAutofit fontScale="85000" lnSpcReduction="10000"/>
          </a:bodyPr>
          <a:lstStyle/>
          <a:p>
            <a:pPr>
              <a:buNone/>
            </a:pPr>
            <a:r>
              <a:rPr lang="en-US" dirty="0" smtClean="0">
                <a:solidFill>
                  <a:schemeClr val="bg1"/>
                </a:solidFill>
              </a:rPr>
              <a:t>	“Joe’s Automotive Shop services foreign cars, and specializes in servicing cars made by Mercedes, Porsche, and BMW.  When a customer brings a car to the shop, the manager gets the customer’s name, address, and telephone number.  Then the manager determines the make, model, and year of the car, and gives the customer a service quote.  The service quote shows the estimated parts charges, estimated labor charges, sales tax, and total estimated charges.”</a:t>
            </a:r>
          </a:p>
          <a:p>
            <a:pPr>
              <a:buNone/>
            </a:pPr>
            <a:r>
              <a:rPr lang="en-US" dirty="0" smtClean="0">
                <a:solidFill>
                  <a:schemeClr val="bg1"/>
                </a:solidFill>
              </a:rPr>
              <a:t>Source: </a:t>
            </a:r>
            <a:r>
              <a:rPr lang="en-US" u="sng" dirty="0" smtClean="0">
                <a:solidFill>
                  <a:schemeClr val="bg1"/>
                </a:solidFill>
              </a:rPr>
              <a:t>Starting Out with Java: From Control Structures through Objects</a:t>
            </a:r>
            <a:r>
              <a:rPr lang="en-US" dirty="0" smtClean="0">
                <a:solidFill>
                  <a:schemeClr val="bg1"/>
                </a:solidFill>
              </a:rPr>
              <a:t> by Tony Gaddis</a:t>
            </a:r>
            <a:endParaRPr lang="en-US" dirty="0">
              <a:solidFill>
                <a:schemeClr val="bg1"/>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Find the Nouns</a:t>
            </a:r>
            <a:endParaRPr lang="en-US" dirty="0">
              <a:solidFill>
                <a:schemeClr val="bg1"/>
              </a:solidFill>
            </a:endParaRPr>
          </a:p>
        </p:txBody>
      </p:sp>
      <p:sp>
        <p:nvSpPr>
          <p:cNvPr id="3" name="Content Placeholder 2"/>
          <p:cNvSpPr>
            <a:spLocks noGrp="1"/>
          </p:cNvSpPr>
          <p:nvPr>
            <p:ph idx="1"/>
          </p:nvPr>
        </p:nvSpPr>
        <p:spPr/>
        <p:txBody>
          <a:bodyPr>
            <a:normAutofit fontScale="92500" lnSpcReduction="10000"/>
          </a:bodyPr>
          <a:lstStyle/>
          <a:p>
            <a:pPr>
              <a:buNone/>
            </a:pPr>
            <a:r>
              <a:rPr lang="en-US" dirty="0" smtClean="0">
                <a:solidFill>
                  <a:schemeClr val="bg1"/>
                </a:solidFill>
              </a:rPr>
              <a:t>	“</a:t>
            </a:r>
            <a:r>
              <a:rPr lang="en-US" dirty="0" smtClean="0">
                <a:solidFill>
                  <a:schemeClr val="accent6">
                    <a:lumMod val="75000"/>
                  </a:schemeClr>
                </a:solidFill>
              </a:rPr>
              <a:t>Joe’s Automotive Shop</a:t>
            </a:r>
            <a:r>
              <a:rPr lang="en-US" dirty="0" smtClean="0">
                <a:solidFill>
                  <a:schemeClr val="bg1"/>
                </a:solidFill>
              </a:rPr>
              <a:t> services </a:t>
            </a:r>
            <a:r>
              <a:rPr lang="en-US" dirty="0" smtClean="0">
                <a:solidFill>
                  <a:schemeClr val="accent6">
                    <a:lumMod val="75000"/>
                  </a:schemeClr>
                </a:solidFill>
              </a:rPr>
              <a:t>foreign cars</a:t>
            </a:r>
            <a:r>
              <a:rPr lang="en-US" dirty="0" smtClean="0">
                <a:solidFill>
                  <a:schemeClr val="bg1"/>
                </a:solidFill>
              </a:rPr>
              <a:t>, and specializes in servicing </a:t>
            </a:r>
            <a:r>
              <a:rPr lang="en-US" dirty="0" smtClean="0">
                <a:solidFill>
                  <a:schemeClr val="accent6">
                    <a:lumMod val="75000"/>
                  </a:schemeClr>
                </a:solidFill>
              </a:rPr>
              <a:t>cars</a:t>
            </a:r>
            <a:r>
              <a:rPr lang="en-US" dirty="0" smtClean="0">
                <a:solidFill>
                  <a:schemeClr val="bg1"/>
                </a:solidFill>
              </a:rPr>
              <a:t> made by </a:t>
            </a:r>
            <a:r>
              <a:rPr lang="en-US" dirty="0" smtClean="0">
                <a:solidFill>
                  <a:schemeClr val="accent6">
                    <a:lumMod val="75000"/>
                  </a:schemeClr>
                </a:solidFill>
              </a:rPr>
              <a:t>Mercedes</a:t>
            </a:r>
            <a:r>
              <a:rPr lang="en-US" dirty="0" smtClean="0">
                <a:solidFill>
                  <a:schemeClr val="bg1"/>
                </a:solidFill>
              </a:rPr>
              <a:t>, </a:t>
            </a:r>
            <a:r>
              <a:rPr lang="en-US" dirty="0" smtClean="0">
                <a:solidFill>
                  <a:schemeClr val="accent6">
                    <a:lumMod val="75000"/>
                  </a:schemeClr>
                </a:solidFill>
              </a:rPr>
              <a:t>Porsche</a:t>
            </a:r>
            <a:r>
              <a:rPr lang="en-US" dirty="0" smtClean="0">
                <a:solidFill>
                  <a:schemeClr val="bg1"/>
                </a:solidFill>
              </a:rPr>
              <a:t>, and </a:t>
            </a:r>
            <a:r>
              <a:rPr lang="en-US" dirty="0" smtClean="0">
                <a:solidFill>
                  <a:schemeClr val="accent6">
                    <a:lumMod val="75000"/>
                  </a:schemeClr>
                </a:solidFill>
              </a:rPr>
              <a:t>BMW</a:t>
            </a:r>
            <a:r>
              <a:rPr lang="en-US" dirty="0" smtClean="0">
                <a:solidFill>
                  <a:schemeClr val="bg1"/>
                </a:solidFill>
              </a:rPr>
              <a:t>.  When a </a:t>
            </a:r>
            <a:r>
              <a:rPr lang="en-US" dirty="0" smtClean="0">
                <a:solidFill>
                  <a:schemeClr val="accent6">
                    <a:lumMod val="75000"/>
                  </a:schemeClr>
                </a:solidFill>
              </a:rPr>
              <a:t>customer</a:t>
            </a:r>
            <a:r>
              <a:rPr lang="en-US" dirty="0" smtClean="0">
                <a:solidFill>
                  <a:schemeClr val="bg1"/>
                </a:solidFill>
              </a:rPr>
              <a:t> brings a </a:t>
            </a:r>
            <a:r>
              <a:rPr lang="en-US" dirty="0" smtClean="0">
                <a:solidFill>
                  <a:schemeClr val="accent6">
                    <a:lumMod val="75000"/>
                  </a:schemeClr>
                </a:solidFill>
              </a:rPr>
              <a:t>car</a:t>
            </a:r>
            <a:r>
              <a:rPr lang="en-US" dirty="0" smtClean="0">
                <a:solidFill>
                  <a:schemeClr val="bg1"/>
                </a:solidFill>
              </a:rPr>
              <a:t> to the </a:t>
            </a:r>
            <a:r>
              <a:rPr lang="en-US" dirty="0" smtClean="0">
                <a:solidFill>
                  <a:schemeClr val="accent6">
                    <a:lumMod val="75000"/>
                  </a:schemeClr>
                </a:solidFill>
              </a:rPr>
              <a:t>shop</a:t>
            </a:r>
            <a:r>
              <a:rPr lang="en-US" dirty="0" smtClean="0">
                <a:solidFill>
                  <a:schemeClr val="bg1"/>
                </a:solidFill>
              </a:rPr>
              <a:t>, the </a:t>
            </a:r>
            <a:r>
              <a:rPr lang="en-US" dirty="0" smtClean="0">
                <a:solidFill>
                  <a:schemeClr val="accent6">
                    <a:lumMod val="75000"/>
                  </a:schemeClr>
                </a:solidFill>
              </a:rPr>
              <a:t>manager</a:t>
            </a:r>
            <a:r>
              <a:rPr lang="en-US" dirty="0" smtClean="0">
                <a:solidFill>
                  <a:schemeClr val="bg1"/>
                </a:solidFill>
              </a:rPr>
              <a:t> gets the </a:t>
            </a:r>
            <a:r>
              <a:rPr lang="en-US" dirty="0" smtClean="0">
                <a:solidFill>
                  <a:schemeClr val="accent6">
                    <a:lumMod val="75000"/>
                  </a:schemeClr>
                </a:solidFill>
              </a:rPr>
              <a:t>customer</a:t>
            </a:r>
            <a:r>
              <a:rPr lang="en-US" dirty="0" smtClean="0">
                <a:solidFill>
                  <a:schemeClr val="bg1"/>
                </a:solidFill>
              </a:rPr>
              <a:t>’s </a:t>
            </a:r>
            <a:r>
              <a:rPr lang="en-US" dirty="0" smtClean="0">
                <a:solidFill>
                  <a:schemeClr val="accent6">
                    <a:lumMod val="75000"/>
                  </a:schemeClr>
                </a:solidFill>
              </a:rPr>
              <a:t>name</a:t>
            </a:r>
            <a:r>
              <a:rPr lang="en-US" dirty="0" smtClean="0">
                <a:solidFill>
                  <a:schemeClr val="bg1"/>
                </a:solidFill>
              </a:rPr>
              <a:t>, </a:t>
            </a:r>
            <a:r>
              <a:rPr lang="en-US" dirty="0" smtClean="0">
                <a:solidFill>
                  <a:schemeClr val="accent6">
                    <a:lumMod val="75000"/>
                  </a:schemeClr>
                </a:solidFill>
              </a:rPr>
              <a:t>address</a:t>
            </a:r>
            <a:r>
              <a:rPr lang="en-US" dirty="0" smtClean="0">
                <a:solidFill>
                  <a:schemeClr val="bg1"/>
                </a:solidFill>
              </a:rPr>
              <a:t>, and </a:t>
            </a:r>
            <a:r>
              <a:rPr lang="en-US" dirty="0" smtClean="0">
                <a:solidFill>
                  <a:schemeClr val="accent6">
                    <a:lumMod val="75000"/>
                  </a:schemeClr>
                </a:solidFill>
              </a:rPr>
              <a:t>telephone number</a:t>
            </a:r>
            <a:r>
              <a:rPr lang="en-US" dirty="0" smtClean="0">
                <a:solidFill>
                  <a:schemeClr val="bg1"/>
                </a:solidFill>
              </a:rPr>
              <a:t>.  Then the </a:t>
            </a:r>
            <a:r>
              <a:rPr lang="en-US" dirty="0" smtClean="0">
                <a:solidFill>
                  <a:schemeClr val="accent6">
                    <a:lumMod val="75000"/>
                  </a:schemeClr>
                </a:solidFill>
              </a:rPr>
              <a:t>manager</a:t>
            </a:r>
            <a:r>
              <a:rPr lang="en-US" dirty="0" smtClean="0">
                <a:solidFill>
                  <a:schemeClr val="bg1"/>
                </a:solidFill>
              </a:rPr>
              <a:t> determines the </a:t>
            </a:r>
            <a:r>
              <a:rPr lang="en-US" dirty="0" smtClean="0">
                <a:solidFill>
                  <a:schemeClr val="accent6">
                    <a:lumMod val="75000"/>
                  </a:schemeClr>
                </a:solidFill>
              </a:rPr>
              <a:t>make</a:t>
            </a:r>
            <a:r>
              <a:rPr lang="en-US" dirty="0" smtClean="0">
                <a:solidFill>
                  <a:schemeClr val="bg1"/>
                </a:solidFill>
              </a:rPr>
              <a:t>, </a:t>
            </a:r>
            <a:r>
              <a:rPr lang="en-US" dirty="0" smtClean="0">
                <a:solidFill>
                  <a:schemeClr val="accent6">
                    <a:lumMod val="75000"/>
                  </a:schemeClr>
                </a:solidFill>
              </a:rPr>
              <a:t>model</a:t>
            </a:r>
            <a:r>
              <a:rPr lang="en-US" dirty="0" smtClean="0">
                <a:solidFill>
                  <a:schemeClr val="bg1"/>
                </a:solidFill>
              </a:rPr>
              <a:t>, and </a:t>
            </a:r>
            <a:r>
              <a:rPr lang="en-US" dirty="0" smtClean="0">
                <a:solidFill>
                  <a:schemeClr val="accent6">
                    <a:lumMod val="75000"/>
                  </a:schemeClr>
                </a:solidFill>
              </a:rPr>
              <a:t>year</a:t>
            </a:r>
            <a:r>
              <a:rPr lang="en-US" dirty="0" smtClean="0">
                <a:solidFill>
                  <a:schemeClr val="bg1"/>
                </a:solidFill>
              </a:rPr>
              <a:t> of the </a:t>
            </a:r>
            <a:r>
              <a:rPr lang="en-US" dirty="0" smtClean="0">
                <a:solidFill>
                  <a:schemeClr val="accent6">
                    <a:lumMod val="75000"/>
                  </a:schemeClr>
                </a:solidFill>
              </a:rPr>
              <a:t>car</a:t>
            </a:r>
            <a:r>
              <a:rPr lang="en-US" dirty="0" smtClean="0">
                <a:solidFill>
                  <a:schemeClr val="bg1"/>
                </a:solidFill>
              </a:rPr>
              <a:t>, and gives the </a:t>
            </a:r>
            <a:r>
              <a:rPr lang="en-US" dirty="0" smtClean="0">
                <a:solidFill>
                  <a:schemeClr val="accent6">
                    <a:lumMod val="75000"/>
                  </a:schemeClr>
                </a:solidFill>
              </a:rPr>
              <a:t>customer</a:t>
            </a:r>
            <a:r>
              <a:rPr lang="en-US" dirty="0" smtClean="0">
                <a:solidFill>
                  <a:schemeClr val="bg1"/>
                </a:solidFill>
              </a:rPr>
              <a:t> a </a:t>
            </a:r>
            <a:r>
              <a:rPr lang="en-US" dirty="0" smtClean="0">
                <a:solidFill>
                  <a:schemeClr val="accent6">
                    <a:lumMod val="75000"/>
                  </a:schemeClr>
                </a:solidFill>
              </a:rPr>
              <a:t>service quote</a:t>
            </a:r>
            <a:r>
              <a:rPr lang="en-US" dirty="0" smtClean="0">
                <a:solidFill>
                  <a:schemeClr val="bg1"/>
                </a:solidFill>
              </a:rPr>
              <a:t>.  The </a:t>
            </a:r>
            <a:r>
              <a:rPr lang="en-US" dirty="0" smtClean="0">
                <a:solidFill>
                  <a:schemeClr val="accent6">
                    <a:lumMod val="75000"/>
                  </a:schemeClr>
                </a:solidFill>
              </a:rPr>
              <a:t>service quote</a:t>
            </a:r>
            <a:r>
              <a:rPr lang="en-US" dirty="0" smtClean="0">
                <a:solidFill>
                  <a:schemeClr val="bg1"/>
                </a:solidFill>
              </a:rPr>
              <a:t> shows the </a:t>
            </a:r>
            <a:r>
              <a:rPr lang="en-US" dirty="0" smtClean="0">
                <a:solidFill>
                  <a:schemeClr val="accent6">
                    <a:lumMod val="75000"/>
                  </a:schemeClr>
                </a:solidFill>
              </a:rPr>
              <a:t>estimated parts charges</a:t>
            </a:r>
            <a:r>
              <a:rPr lang="en-US" dirty="0" smtClean="0">
                <a:solidFill>
                  <a:schemeClr val="bg1"/>
                </a:solidFill>
              </a:rPr>
              <a:t>, </a:t>
            </a:r>
            <a:r>
              <a:rPr lang="en-US" dirty="0" smtClean="0">
                <a:solidFill>
                  <a:schemeClr val="accent6">
                    <a:lumMod val="75000"/>
                  </a:schemeClr>
                </a:solidFill>
              </a:rPr>
              <a:t>estimated labor charges</a:t>
            </a:r>
            <a:r>
              <a:rPr lang="en-US" dirty="0" smtClean="0">
                <a:solidFill>
                  <a:schemeClr val="bg1"/>
                </a:solidFill>
              </a:rPr>
              <a:t>, </a:t>
            </a:r>
            <a:r>
              <a:rPr lang="en-US" dirty="0" smtClean="0">
                <a:solidFill>
                  <a:schemeClr val="accent6">
                    <a:lumMod val="75000"/>
                  </a:schemeClr>
                </a:solidFill>
              </a:rPr>
              <a:t>sales tax</a:t>
            </a:r>
            <a:r>
              <a:rPr lang="en-US" dirty="0" smtClean="0">
                <a:solidFill>
                  <a:schemeClr val="bg1"/>
                </a:solidFill>
              </a:rPr>
              <a:t>, and </a:t>
            </a:r>
            <a:r>
              <a:rPr lang="en-US" dirty="0" smtClean="0">
                <a:solidFill>
                  <a:schemeClr val="accent6">
                    <a:lumMod val="75000"/>
                  </a:schemeClr>
                </a:solidFill>
              </a:rPr>
              <a:t>total estimated charges</a:t>
            </a:r>
            <a:r>
              <a:rPr lang="en-US" dirty="0" smtClean="0">
                <a:solidFill>
                  <a:schemeClr val="bg1"/>
                </a:solidFill>
              </a:rPr>
              <a:t>.”</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Coalescing</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chemeClr val="bg1"/>
                </a:solidFill>
              </a:rPr>
              <a:t>address			</a:t>
            </a:r>
            <a:r>
              <a:rPr lang="en-US" sz="1800" b="1" u="sng" dirty="0" smtClean="0">
                <a:solidFill>
                  <a:srgbClr val="00B050"/>
                </a:solidFill>
              </a:rPr>
              <a:t>foreign cars</a:t>
            </a:r>
            <a:r>
              <a:rPr lang="en-US" sz="1800" dirty="0" smtClean="0">
                <a:solidFill>
                  <a:schemeClr val="bg1"/>
                </a:solidFill>
              </a:rPr>
              <a:t>		Porsche</a:t>
            </a:r>
          </a:p>
          <a:p>
            <a:pPr>
              <a:buNone/>
            </a:pPr>
            <a:r>
              <a:rPr lang="en-US" sz="1800" dirty="0" smtClean="0">
                <a:solidFill>
                  <a:schemeClr val="bg1"/>
                </a:solidFill>
              </a:rPr>
              <a:t>BMW			</a:t>
            </a:r>
            <a:r>
              <a:rPr lang="en-US" sz="1800" b="1" u="sng" dirty="0" smtClean="0">
                <a:solidFill>
                  <a:srgbClr val="00B0F0"/>
                </a:solidFill>
              </a:rPr>
              <a:t>Joe’s Automotive Shop</a:t>
            </a:r>
            <a:r>
              <a:rPr lang="en-US" sz="1800" dirty="0" smtClean="0">
                <a:solidFill>
                  <a:schemeClr val="bg1"/>
                </a:solidFill>
              </a:rPr>
              <a:t>	sales tax</a:t>
            </a:r>
          </a:p>
          <a:p>
            <a:pPr>
              <a:buNone/>
            </a:pPr>
            <a:r>
              <a:rPr lang="en-US" sz="1800" b="1" u="sng" dirty="0" smtClean="0">
                <a:solidFill>
                  <a:srgbClr val="00B050"/>
                </a:solidFill>
              </a:rPr>
              <a:t>car</a:t>
            </a:r>
            <a:r>
              <a:rPr lang="en-US" sz="1800" dirty="0" smtClean="0">
                <a:solidFill>
                  <a:schemeClr val="bg1"/>
                </a:solidFill>
              </a:rPr>
              <a:t>				make			service quote</a:t>
            </a:r>
          </a:p>
          <a:p>
            <a:pPr>
              <a:buNone/>
            </a:pPr>
            <a:r>
              <a:rPr lang="en-US" sz="1800" b="1" u="sng" dirty="0" smtClean="0">
                <a:solidFill>
                  <a:srgbClr val="00B050"/>
                </a:solidFill>
              </a:rPr>
              <a:t>cars</a:t>
            </a:r>
            <a:r>
              <a:rPr lang="en-US" sz="1800" dirty="0" smtClean="0">
                <a:solidFill>
                  <a:schemeClr val="bg1"/>
                </a:solidFill>
              </a:rPr>
              <a:t>			manager			</a:t>
            </a:r>
            <a:r>
              <a:rPr lang="en-US" sz="1800" b="1" u="sng" dirty="0" smtClean="0">
                <a:solidFill>
                  <a:srgbClr val="00B0F0"/>
                </a:solidFill>
              </a:rPr>
              <a:t>shop</a:t>
            </a:r>
          </a:p>
          <a:p>
            <a:pPr>
              <a:buNone/>
            </a:pPr>
            <a:r>
              <a:rPr lang="en-US" sz="1800" dirty="0" smtClean="0">
                <a:solidFill>
                  <a:schemeClr val="bg1"/>
                </a:solidFill>
              </a:rPr>
              <a:t>customer			Mercedes		telephone number</a:t>
            </a:r>
          </a:p>
          <a:p>
            <a:pPr>
              <a:buNone/>
            </a:pPr>
            <a:r>
              <a:rPr lang="en-US" sz="1800" dirty="0" smtClean="0">
                <a:solidFill>
                  <a:schemeClr val="bg1"/>
                </a:solidFill>
              </a:rPr>
              <a:t>estimated labor charges	model			total estimated charges</a:t>
            </a:r>
          </a:p>
          <a:p>
            <a:pPr>
              <a:buNone/>
            </a:pPr>
            <a:r>
              <a:rPr lang="en-US" sz="1800" dirty="0" smtClean="0">
                <a:solidFill>
                  <a:schemeClr val="bg1"/>
                </a:solidFill>
              </a:rPr>
              <a:t>estimated parts charges	name			year</a:t>
            </a:r>
            <a:endParaRPr lang="en-US" sz="1800" dirty="0">
              <a:solidFill>
                <a:schemeClr val="bg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Noun Out of Scope</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chemeClr val="bg1"/>
                </a:solidFill>
              </a:rPr>
              <a:t>address			</a:t>
            </a:r>
            <a:r>
              <a:rPr lang="en-US" sz="1800" dirty="0" smtClean="0">
                <a:solidFill>
                  <a:schemeClr val="tx1">
                    <a:lumMod val="75000"/>
                    <a:lumOff val="25000"/>
                  </a:schemeClr>
                </a:solidFill>
              </a:rPr>
              <a:t>foreign cars</a:t>
            </a:r>
            <a:r>
              <a:rPr lang="en-US" sz="1800" dirty="0" smtClean="0">
                <a:solidFill>
                  <a:schemeClr val="bg1"/>
                </a:solidFill>
              </a:rPr>
              <a:t>		Porsche</a:t>
            </a:r>
          </a:p>
          <a:p>
            <a:pPr>
              <a:buNone/>
            </a:pPr>
            <a:r>
              <a:rPr lang="en-US" sz="1800" dirty="0" smtClean="0">
                <a:solidFill>
                  <a:schemeClr val="bg1"/>
                </a:solidFill>
              </a:rPr>
              <a:t>BMW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dirty="0" smtClean="0">
                <a:solidFill>
                  <a:schemeClr val="bg1"/>
                </a:solidFill>
              </a:rPr>
              <a:t>car				make			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b="1" u="sng" dirty="0" smtClean="0">
                <a:solidFill>
                  <a:srgbClr val="FF0000"/>
                </a:solidFill>
              </a:rPr>
              <a:t>manager</a:t>
            </a:r>
            <a:r>
              <a:rPr lang="en-US" sz="1800" dirty="0" smtClean="0">
                <a:solidFill>
                  <a:schemeClr val="bg1"/>
                </a:solidFill>
              </a:rPr>
              <a:t>			shop</a:t>
            </a:r>
          </a:p>
          <a:p>
            <a:pPr>
              <a:buNone/>
            </a:pPr>
            <a:r>
              <a:rPr lang="en-US" sz="1800" dirty="0" smtClean="0">
                <a:solidFill>
                  <a:schemeClr val="bg1"/>
                </a:solidFill>
              </a:rPr>
              <a:t>customer			Mercedes		telephone number</a:t>
            </a:r>
          </a:p>
          <a:p>
            <a:pPr>
              <a:buNone/>
            </a:pPr>
            <a:r>
              <a:rPr lang="en-US" sz="1800" dirty="0" smtClean="0">
                <a:solidFill>
                  <a:schemeClr val="bg1"/>
                </a:solidFill>
              </a:rPr>
              <a:t>estimated labor charges	model			total estimated charges</a:t>
            </a:r>
          </a:p>
          <a:p>
            <a:pPr>
              <a:buNone/>
            </a:pPr>
            <a:r>
              <a:rPr lang="en-US" sz="1800" dirty="0" smtClean="0">
                <a:solidFill>
                  <a:schemeClr val="bg1"/>
                </a:solidFill>
              </a:rPr>
              <a:t>estimated parts charges	name			year</a:t>
            </a:r>
            <a:endParaRPr lang="en-US" sz="1800" dirty="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Subtypes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chemeClr val="bg1"/>
                </a:solidFill>
              </a:rPr>
              <a:t>address			</a:t>
            </a:r>
            <a:r>
              <a:rPr lang="en-US" sz="1800" dirty="0" smtClean="0">
                <a:solidFill>
                  <a:schemeClr val="tx1">
                    <a:lumMod val="75000"/>
                    <a:lumOff val="25000"/>
                  </a:schemeClr>
                </a:solidFill>
              </a:rPr>
              <a:t>foreign cars</a:t>
            </a:r>
            <a:r>
              <a:rPr lang="en-US" sz="1800" dirty="0" smtClean="0">
                <a:solidFill>
                  <a:schemeClr val="bg1"/>
                </a:solidFill>
              </a:rPr>
              <a:t>		</a:t>
            </a:r>
            <a:r>
              <a:rPr lang="en-US" sz="1800" b="1" u="sng" dirty="0" smtClean="0">
                <a:solidFill>
                  <a:srgbClr val="00B050"/>
                </a:solidFill>
              </a:rPr>
              <a:t>Porsche</a:t>
            </a:r>
          </a:p>
          <a:p>
            <a:pPr>
              <a:buNone/>
            </a:pPr>
            <a:r>
              <a:rPr lang="en-US" sz="1800" b="1" u="sng" dirty="0" smtClean="0">
                <a:solidFill>
                  <a:srgbClr val="00B050"/>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dirty="0" smtClean="0">
                <a:solidFill>
                  <a:srgbClr val="00B050"/>
                </a:solidFill>
              </a:rPr>
              <a:t>car</a:t>
            </a:r>
            <a:r>
              <a:rPr lang="en-US" sz="1800" dirty="0" smtClean="0">
                <a:solidFill>
                  <a:schemeClr val="bg1"/>
                </a:solidFill>
              </a:rPr>
              <a:t>				make			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dirty="0" smtClean="0">
                <a:solidFill>
                  <a:schemeClr val="bg1"/>
                </a:solidFill>
              </a:rPr>
              <a:t>customer			</a:t>
            </a:r>
            <a:r>
              <a:rPr lang="en-US" sz="1800" b="1" u="sng" dirty="0" smtClean="0">
                <a:solidFill>
                  <a:srgbClr val="00B050"/>
                </a:solidFill>
              </a:rPr>
              <a:t>Mercedes</a:t>
            </a:r>
            <a:r>
              <a:rPr lang="en-US" sz="1800" dirty="0" smtClean="0">
                <a:solidFill>
                  <a:schemeClr val="bg1"/>
                </a:solidFill>
              </a:rPr>
              <a:t>		telephone number</a:t>
            </a:r>
          </a:p>
          <a:p>
            <a:pPr>
              <a:buNone/>
            </a:pPr>
            <a:r>
              <a:rPr lang="en-US" sz="1800" dirty="0" smtClean="0">
                <a:solidFill>
                  <a:schemeClr val="bg1"/>
                </a:solidFill>
              </a:rPr>
              <a:t>estimated labor charges	model			total estimated charges</a:t>
            </a:r>
          </a:p>
          <a:p>
            <a:pPr>
              <a:buNone/>
            </a:pPr>
            <a:r>
              <a:rPr lang="en-US" sz="1800" dirty="0" smtClean="0">
                <a:solidFill>
                  <a:schemeClr val="bg1"/>
                </a:solidFill>
              </a:rPr>
              <a:t>estimated parts charges	name			year</a:t>
            </a:r>
          </a:p>
          <a:p>
            <a:pPr>
              <a:buNone/>
            </a:pPr>
            <a:endParaRPr lang="en-US" sz="1800" dirty="0" smtClean="0">
              <a:solidFill>
                <a:schemeClr val="bg1"/>
              </a:solidFill>
            </a:endParaRPr>
          </a:p>
          <a:p>
            <a:pPr>
              <a:buNone/>
            </a:pPr>
            <a:r>
              <a:rPr lang="en-US" sz="2800" dirty="0" smtClean="0">
                <a:solidFill>
                  <a:schemeClr val="bg1"/>
                </a:solidFill>
              </a:rPr>
              <a:t>Whether these subtypes are specific objects (instances) or more specific types of cars (subclasses) will depend on your needs.  In this scenario, there is no need to represent them as classes.</a:t>
            </a:r>
            <a:endParaRPr lang="en-US" sz="2800" dirty="0">
              <a:solidFill>
                <a:schemeClr val="bg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Simple Properties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chemeClr val="bg1"/>
                </a:solidFill>
              </a:rPr>
              <a:t>address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dirty="0" smtClean="0">
                <a:solidFill>
                  <a:schemeClr val="bg1"/>
                </a:solidFill>
              </a:rPr>
              <a:t>car				make			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dirty="0" smtClean="0">
                <a:solidFill>
                  <a:schemeClr val="bg1"/>
                </a:solidFill>
              </a:rPr>
              <a:t>customer			</a:t>
            </a:r>
            <a:r>
              <a:rPr lang="en-US" sz="1800" dirty="0" smtClean="0">
                <a:solidFill>
                  <a:schemeClr val="tx1">
                    <a:lumMod val="75000"/>
                    <a:lumOff val="25000"/>
                  </a:schemeClr>
                </a:solidFill>
              </a:rPr>
              <a:t>Mercedes</a:t>
            </a:r>
            <a:r>
              <a:rPr lang="en-US" sz="1800" dirty="0" smtClean="0">
                <a:solidFill>
                  <a:schemeClr val="bg1"/>
                </a:solidFill>
              </a:rPr>
              <a:t>		telephone number</a:t>
            </a:r>
          </a:p>
          <a:p>
            <a:pPr>
              <a:buNone/>
            </a:pPr>
            <a:r>
              <a:rPr lang="en-US" sz="1800" dirty="0" smtClean="0">
                <a:solidFill>
                  <a:schemeClr val="bg1"/>
                </a:solidFill>
              </a:rPr>
              <a:t>estimated labor charges	model			total estimated charges</a:t>
            </a:r>
          </a:p>
          <a:p>
            <a:pPr>
              <a:buNone/>
            </a:pPr>
            <a:r>
              <a:rPr lang="en-US" sz="1800" dirty="0" smtClean="0">
                <a:solidFill>
                  <a:schemeClr val="bg1"/>
                </a:solidFill>
              </a:rPr>
              <a:t>estimated parts charges	name			year</a:t>
            </a:r>
          </a:p>
          <a:p>
            <a:pPr>
              <a:buNone/>
            </a:pPr>
            <a:endParaRPr lang="en-US" sz="1800" dirty="0" smtClean="0">
              <a:solidFill>
                <a:schemeClr val="bg1"/>
              </a:solidFill>
            </a:endParaRPr>
          </a:p>
          <a:p>
            <a:pPr>
              <a:buNone/>
            </a:pPr>
            <a:r>
              <a:rPr lang="en-US" dirty="0" smtClean="0">
                <a:solidFill>
                  <a:schemeClr val="bg1"/>
                </a:solidFill>
              </a:rPr>
              <a:t>Simple properties can be composed of primitives or preexisting object definitions, and fall under a particular object class.</a:t>
            </a:r>
            <a:endParaRPr lang="en-US" dirty="0">
              <a:solidFill>
                <a:schemeClr val="bg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Simple Properties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chemeClr val="bg1"/>
                </a:solidFill>
              </a:rPr>
              <a:t>address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i="1" u="sng" dirty="0" smtClean="0">
                <a:solidFill>
                  <a:srgbClr val="00B050"/>
                </a:solidFill>
              </a:rPr>
              <a:t>car</a:t>
            </a:r>
            <a:r>
              <a:rPr lang="en-US" sz="1800" dirty="0" smtClean="0">
                <a:solidFill>
                  <a:schemeClr val="bg1"/>
                </a:solidFill>
              </a:rPr>
              <a:t>				make			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dirty="0" smtClean="0">
                <a:solidFill>
                  <a:schemeClr val="bg1"/>
                </a:solidFill>
              </a:rPr>
              <a:t>customer			</a:t>
            </a:r>
            <a:r>
              <a:rPr lang="en-US" sz="1800" dirty="0" smtClean="0">
                <a:solidFill>
                  <a:schemeClr val="tx1">
                    <a:lumMod val="75000"/>
                    <a:lumOff val="25000"/>
                  </a:schemeClr>
                </a:solidFill>
              </a:rPr>
              <a:t>Mercedes</a:t>
            </a:r>
            <a:r>
              <a:rPr lang="en-US" sz="1800" dirty="0" smtClean="0">
                <a:solidFill>
                  <a:schemeClr val="bg1"/>
                </a:solidFill>
              </a:rPr>
              <a:t>		telephone number</a:t>
            </a:r>
          </a:p>
          <a:p>
            <a:pPr>
              <a:buNone/>
            </a:pPr>
            <a:r>
              <a:rPr lang="en-US" sz="1800" dirty="0" smtClean="0">
                <a:solidFill>
                  <a:schemeClr val="bg1"/>
                </a:solidFill>
              </a:rPr>
              <a:t>estimated labor charges	model			total estimated charges</a:t>
            </a:r>
          </a:p>
          <a:p>
            <a:pPr>
              <a:buNone/>
            </a:pPr>
            <a:r>
              <a:rPr lang="en-US" sz="1800" dirty="0" smtClean="0">
                <a:solidFill>
                  <a:schemeClr val="bg1"/>
                </a:solidFill>
              </a:rPr>
              <a:t>estimated parts charges	name			year</a:t>
            </a:r>
          </a:p>
          <a:p>
            <a:pPr>
              <a:buNone/>
            </a:pPr>
            <a:endParaRPr lang="en-US" sz="1800" dirty="0" smtClean="0">
              <a:solidFill>
                <a:schemeClr val="bg1"/>
              </a:solidFill>
            </a:endParaRPr>
          </a:p>
          <a:p>
            <a:pPr>
              <a:buNone/>
            </a:pPr>
            <a:r>
              <a:rPr lang="en-US" dirty="0" smtClean="0">
                <a:solidFill>
                  <a:schemeClr val="bg1"/>
                </a:solidFill>
              </a:rPr>
              <a:t>A car had three simple properties in our scenario.  What types would they be?</a:t>
            </a:r>
            <a:endParaRPr lang="en-US" dirty="0">
              <a:solidFill>
                <a:schemeClr val="bg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Simple Properties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chemeClr val="bg1"/>
                </a:solidFill>
              </a:rPr>
              <a:t>address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i="1" u="sng" dirty="0" smtClean="0">
                <a:solidFill>
                  <a:srgbClr val="00B050"/>
                </a:solidFill>
              </a:rPr>
              <a:t>car</a:t>
            </a:r>
            <a:r>
              <a:rPr lang="en-US" sz="1800" dirty="0" smtClean="0">
                <a:solidFill>
                  <a:schemeClr val="bg1"/>
                </a:solidFill>
              </a:rPr>
              <a:t>				</a:t>
            </a:r>
            <a:r>
              <a:rPr lang="en-US" sz="1800" dirty="0" smtClean="0">
                <a:solidFill>
                  <a:srgbClr val="00B050"/>
                </a:solidFill>
              </a:rPr>
              <a:t>make</a:t>
            </a:r>
            <a:r>
              <a:rPr lang="en-US" sz="1800" dirty="0" smtClean="0">
                <a:solidFill>
                  <a:schemeClr val="bg1"/>
                </a:solidFill>
              </a:rPr>
              <a:t>			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dirty="0" smtClean="0">
                <a:solidFill>
                  <a:schemeClr val="bg1"/>
                </a:solidFill>
              </a:rPr>
              <a:t>customer			</a:t>
            </a:r>
            <a:r>
              <a:rPr lang="en-US" sz="1800" dirty="0" smtClean="0">
                <a:solidFill>
                  <a:schemeClr val="tx1">
                    <a:lumMod val="75000"/>
                    <a:lumOff val="25000"/>
                  </a:schemeClr>
                </a:solidFill>
              </a:rPr>
              <a:t>Mercedes</a:t>
            </a:r>
            <a:r>
              <a:rPr lang="en-US" sz="1800" dirty="0" smtClean="0">
                <a:solidFill>
                  <a:schemeClr val="bg1"/>
                </a:solidFill>
              </a:rPr>
              <a:t>		telephone number</a:t>
            </a:r>
          </a:p>
          <a:p>
            <a:pPr>
              <a:buNone/>
            </a:pPr>
            <a:r>
              <a:rPr lang="en-US" sz="1800" dirty="0" smtClean="0">
                <a:solidFill>
                  <a:schemeClr val="bg1"/>
                </a:solidFill>
              </a:rPr>
              <a:t>estimated labor charges	</a:t>
            </a:r>
            <a:r>
              <a:rPr lang="en-US" sz="1800" dirty="0" smtClean="0">
                <a:solidFill>
                  <a:srgbClr val="00B050"/>
                </a:solidFill>
              </a:rPr>
              <a:t>model</a:t>
            </a:r>
            <a:r>
              <a:rPr lang="en-US" sz="1800" dirty="0" smtClean="0">
                <a:solidFill>
                  <a:schemeClr val="bg1"/>
                </a:solidFill>
              </a:rPr>
              <a:t>			total estimated charges</a:t>
            </a:r>
          </a:p>
          <a:p>
            <a:pPr>
              <a:buNone/>
            </a:pPr>
            <a:r>
              <a:rPr lang="en-US" sz="1800" dirty="0" smtClean="0">
                <a:solidFill>
                  <a:schemeClr val="bg1"/>
                </a:solidFill>
              </a:rPr>
              <a:t>estimated parts charges	name			</a:t>
            </a:r>
            <a:r>
              <a:rPr lang="en-US" sz="1800" dirty="0" smtClean="0">
                <a:solidFill>
                  <a:srgbClr val="00B050"/>
                </a:solidFill>
              </a:rPr>
              <a:t>year</a:t>
            </a:r>
          </a:p>
          <a:p>
            <a:pPr>
              <a:buNone/>
            </a:pPr>
            <a:endParaRPr lang="en-US" sz="1800" dirty="0" smtClean="0">
              <a:solidFill>
                <a:schemeClr val="bg1"/>
              </a:solidFill>
            </a:endParaRPr>
          </a:p>
          <a:p>
            <a:pPr>
              <a:buNone/>
            </a:pPr>
            <a:r>
              <a:rPr lang="en-US" dirty="0" smtClean="0">
                <a:solidFill>
                  <a:schemeClr val="bg1"/>
                </a:solidFill>
              </a:rPr>
              <a:t>A car had three simple properties in our scenario.  What types would they be?</a:t>
            </a:r>
            <a:endParaRPr lang="en-US" dirty="0">
              <a:solidFill>
                <a:schemeClr val="bg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Simple Properties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chemeClr val="bg1"/>
                </a:solidFill>
              </a:rPr>
              <a:t>address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i="1" u="sng" dirty="0" smtClean="0">
                <a:solidFill>
                  <a:srgbClr val="00B050"/>
                </a:solidFill>
              </a:rPr>
              <a:t>car</a:t>
            </a:r>
            <a:r>
              <a:rPr lang="en-US" sz="1800" dirty="0" smtClean="0">
                <a:solidFill>
                  <a:schemeClr val="bg1"/>
                </a:solidFill>
              </a:rPr>
              <a:t>				</a:t>
            </a:r>
            <a:r>
              <a:rPr lang="en-US" sz="1800" dirty="0" smtClean="0">
                <a:solidFill>
                  <a:srgbClr val="00B050"/>
                </a:solidFill>
              </a:rPr>
              <a:t>make</a:t>
            </a:r>
            <a:r>
              <a:rPr lang="en-US" sz="1800" dirty="0" smtClean="0">
                <a:solidFill>
                  <a:schemeClr val="bg1"/>
                </a:solidFill>
              </a:rPr>
              <a:t>			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i="1" u="sng" dirty="0" smtClean="0">
                <a:solidFill>
                  <a:srgbClr val="00B0F0"/>
                </a:solidFill>
              </a:rPr>
              <a:t>customer</a:t>
            </a:r>
            <a:r>
              <a:rPr lang="en-US" sz="1800" dirty="0" smtClean="0">
                <a:solidFill>
                  <a:schemeClr val="bg1"/>
                </a:solidFill>
              </a:rPr>
              <a:t>			</a:t>
            </a:r>
            <a:r>
              <a:rPr lang="en-US" sz="1800" dirty="0" smtClean="0">
                <a:solidFill>
                  <a:schemeClr val="tx1">
                    <a:lumMod val="75000"/>
                    <a:lumOff val="25000"/>
                  </a:schemeClr>
                </a:solidFill>
              </a:rPr>
              <a:t>Mercedes</a:t>
            </a:r>
            <a:r>
              <a:rPr lang="en-US" sz="1800" dirty="0" smtClean="0">
                <a:solidFill>
                  <a:schemeClr val="bg1"/>
                </a:solidFill>
              </a:rPr>
              <a:t>		telephone number</a:t>
            </a:r>
          </a:p>
          <a:p>
            <a:pPr>
              <a:buNone/>
            </a:pPr>
            <a:r>
              <a:rPr lang="en-US" sz="1800" dirty="0" smtClean="0">
                <a:solidFill>
                  <a:schemeClr val="bg1"/>
                </a:solidFill>
              </a:rPr>
              <a:t>estimated labor charges	</a:t>
            </a:r>
            <a:r>
              <a:rPr lang="en-US" sz="1800" dirty="0" smtClean="0">
                <a:solidFill>
                  <a:srgbClr val="00B050"/>
                </a:solidFill>
              </a:rPr>
              <a:t>model</a:t>
            </a:r>
            <a:r>
              <a:rPr lang="en-US" sz="1800" dirty="0" smtClean="0">
                <a:solidFill>
                  <a:schemeClr val="bg1"/>
                </a:solidFill>
              </a:rPr>
              <a:t>			total estimated charges</a:t>
            </a:r>
          </a:p>
          <a:p>
            <a:pPr>
              <a:buNone/>
            </a:pPr>
            <a:r>
              <a:rPr lang="en-US" sz="1800" dirty="0" smtClean="0">
                <a:solidFill>
                  <a:schemeClr val="bg1"/>
                </a:solidFill>
              </a:rPr>
              <a:t>estimated parts charges	name			</a:t>
            </a:r>
            <a:r>
              <a:rPr lang="en-US" sz="1800" dirty="0" smtClean="0">
                <a:solidFill>
                  <a:srgbClr val="00B050"/>
                </a:solidFill>
              </a:rPr>
              <a:t>year</a:t>
            </a:r>
          </a:p>
          <a:p>
            <a:pPr>
              <a:buNone/>
            </a:pPr>
            <a:endParaRPr lang="en-US" sz="1800" dirty="0" smtClean="0">
              <a:solidFill>
                <a:schemeClr val="bg1"/>
              </a:solidFill>
            </a:endParaRPr>
          </a:p>
          <a:p>
            <a:pPr>
              <a:buNone/>
            </a:pPr>
            <a:r>
              <a:rPr lang="en-US" dirty="0" smtClean="0">
                <a:solidFill>
                  <a:schemeClr val="bg1"/>
                </a:solidFill>
              </a:rPr>
              <a:t>A customer had three simple properties in our scenario.  What types would they be?</a:t>
            </a:r>
            <a:endParaRPr lang="en-US" dirty="0">
              <a:solidFill>
                <a:schemeClr val="bg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Simple Properties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rgbClr val="00B0F0"/>
                </a:solidFill>
              </a:rPr>
              <a:t>address</a:t>
            </a:r>
            <a:r>
              <a:rPr lang="en-US" sz="1800" dirty="0" smtClean="0">
                <a:solidFill>
                  <a:schemeClr val="bg1"/>
                </a:solidFill>
              </a:rPr>
              <a:t>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i="1" u="sng" dirty="0" smtClean="0">
                <a:solidFill>
                  <a:srgbClr val="00B050"/>
                </a:solidFill>
              </a:rPr>
              <a:t>car</a:t>
            </a:r>
            <a:r>
              <a:rPr lang="en-US" sz="1800" dirty="0" smtClean="0">
                <a:solidFill>
                  <a:schemeClr val="bg1"/>
                </a:solidFill>
              </a:rPr>
              <a:t>				</a:t>
            </a:r>
            <a:r>
              <a:rPr lang="en-US" sz="1800" dirty="0" smtClean="0">
                <a:solidFill>
                  <a:srgbClr val="00B050"/>
                </a:solidFill>
              </a:rPr>
              <a:t>make</a:t>
            </a:r>
            <a:r>
              <a:rPr lang="en-US" sz="1800" dirty="0" smtClean="0">
                <a:solidFill>
                  <a:schemeClr val="bg1"/>
                </a:solidFill>
              </a:rPr>
              <a:t>			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i="1" u="sng" dirty="0" smtClean="0">
                <a:solidFill>
                  <a:srgbClr val="00B0F0"/>
                </a:solidFill>
              </a:rPr>
              <a:t>customer</a:t>
            </a:r>
            <a:r>
              <a:rPr lang="en-US" sz="1800" dirty="0" smtClean="0">
                <a:solidFill>
                  <a:schemeClr val="bg1"/>
                </a:solidFill>
              </a:rPr>
              <a:t>			</a:t>
            </a:r>
            <a:r>
              <a:rPr lang="en-US" sz="1800" dirty="0" smtClean="0">
                <a:solidFill>
                  <a:schemeClr val="tx1">
                    <a:lumMod val="75000"/>
                    <a:lumOff val="25000"/>
                  </a:schemeClr>
                </a:solidFill>
              </a:rPr>
              <a:t>Mercedes</a:t>
            </a:r>
            <a:r>
              <a:rPr lang="en-US" sz="1800" dirty="0" smtClean="0">
                <a:solidFill>
                  <a:schemeClr val="bg1"/>
                </a:solidFill>
              </a:rPr>
              <a:t>		</a:t>
            </a:r>
            <a:r>
              <a:rPr lang="en-US" sz="1800" dirty="0" smtClean="0">
                <a:solidFill>
                  <a:srgbClr val="00B0F0"/>
                </a:solidFill>
              </a:rPr>
              <a:t>telephone number</a:t>
            </a:r>
          </a:p>
          <a:p>
            <a:pPr>
              <a:buNone/>
            </a:pPr>
            <a:r>
              <a:rPr lang="en-US" sz="1800" dirty="0" smtClean="0">
                <a:solidFill>
                  <a:schemeClr val="bg1"/>
                </a:solidFill>
              </a:rPr>
              <a:t>estimated labor charges	</a:t>
            </a:r>
            <a:r>
              <a:rPr lang="en-US" sz="1800" dirty="0" smtClean="0">
                <a:solidFill>
                  <a:srgbClr val="00B050"/>
                </a:solidFill>
              </a:rPr>
              <a:t>model</a:t>
            </a:r>
            <a:r>
              <a:rPr lang="en-US" sz="1800" dirty="0" smtClean="0">
                <a:solidFill>
                  <a:schemeClr val="bg1"/>
                </a:solidFill>
              </a:rPr>
              <a:t>			total estimated charges</a:t>
            </a:r>
          </a:p>
          <a:p>
            <a:pPr>
              <a:buNone/>
            </a:pPr>
            <a:r>
              <a:rPr lang="en-US" sz="1800" dirty="0" smtClean="0">
                <a:solidFill>
                  <a:schemeClr val="bg1"/>
                </a:solidFill>
              </a:rPr>
              <a:t>estimated parts charges	</a:t>
            </a:r>
            <a:r>
              <a:rPr lang="en-US" sz="1800" dirty="0" smtClean="0">
                <a:solidFill>
                  <a:srgbClr val="00B0F0"/>
                </a:solidFill>
              </a:rPr>
              <a:t>name</a:t>
            </a:r>
            <a:r>
              <a:rPr lang="en-US" sz="1800" dirty="0" smtClean="0">
                <a:solidFill>
                  <a:schemeClr val="bg1"/>
                </a:solidFill>
              </a:rPr>
              <a:t>			</a:t>
            </a:r>
            <a:r>
              <a:rPr lang="en-US" sz="1800" dirty="0" smtClean="0">
                <a:solidFill>
                  <a:srgbClr val="00B050"/>
                </a:solidFill>
              </a:rPr>
              <a:t>year</a:t>
            </a:r>
          </a:p>
          <a:p>
            <a:pPr>
              <a:buNone/>
            </a:pPr>
            <a:endParaRPr lang="en-US" sz="1800" dirty="0" smtClean="0">
              <a:solidFill>
                <a:schemeClr val="bg1"/>
              </a:solidFill>
            </a:endParaRPr>
          </a:p>
          <a:p>
            <a:pPr>
              <a:buNone/>
            </a:pPr>
            <a:r>
              <a:rPr lang="en-US" dirty="0" smtClean="0">
                <a:solidFill>
                  <a:schemeClr val="bg1"/>
                </a:solidFill>
              </a:rPr>
              <a:t>A customer had three simple properties in our scenario.  What types would they be?</a:t>
            </a:r>
            <a:endParaRPr lang="en-US" dirty="0">
              <a:solidFill>
                <a:schemeClr val="bg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Simple Properties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rgbClr val="00B0F0"/>
                </a:solidFill>
              </a:rPr>
              <a:t>address</a:t>
            </a:r>
            <a:r>
              <a:rPr lang="en-US" sz="1800" dirty="0" smtClean="0">
                <a:solidFill>
                  <a:schemeClr val="bg1"/>
                </a:solidFill>
              </a:rPr>
              <a:t>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i="1" u="sng" dirty="0" smtClean="0">
                <a:solidFill>
                  <a:srgbClr val="00B050"/>
                </a:solidFill>
              </a:rPr>
              <a:t>car</a:t>
            </a:r>
            <a:r>
              <a:rPr lang="en-US" sz="1800" dirty="0" smtClean="0">
                <a:solidFill>
                  <a:schemeClr val="bg1"/>
                </a:solidFill>
              </a:rPr>
              <a:t>				</a:t>
            </a:r>
            <a:r>
              <a:rPr lang="en-US" sz="1800" dirty="0" smtClean="0">
                <a:solidFill>
                  <a:srgbClr val="00B050"/>
                </a:solidFill>
              </a:rPr>
              <a:t>make</a:t>
            </a:r>
            <a:r>
              <a:rPr lang="en-US" sz="1800" dirty="0" smtClean="0">
                <a:solidFill>
                  <a:schemeClr val="bg1"/>
                </a:solidFill>
              </a:rPr>
              <a:t>			</a:t>
            </a:r>
            <a:r>
              <a:rPr lang="en-US" sz="1800" i="1" u="sng" dirty="0" smtClean="0">
                <a:solidFill>
                  <a:srgbClr val="FFC000"/>
                </a:solidFill>
              </a:rPr>
              <a:t>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i="1" u="sng" dirty="0" smtClean="0">
                <a:solidFill>
                  <a:srgbClr val="00B0F0"/>
                </a:solidFill>
              </a:rPr>
              <a:t>customer</a:t>
            </a:r>
            <a:r>
              <a:rPr lang="en-US" sz="1800" dirty="0" smtClean="0">
                <a:solidFill>
                  <a:schemeClr val="bg1"/>
                </a:solidFill>
              </a:rPr>
              <a:t>			</a:t>
            </a:r>
            <a:r>
              <a:rPr lang="en-US" sz="1800" dirty="0" smtClean="0">
                <a:solidFill>
                  <a:schemeClr val="tx1">
                    <a:lumMod val="75000"/>
                    <a:lumOff val="25000"/>
                  </a:schemeClr>
                </a:solidFill>
              </a:rPr>
              <a:t>Mercedes</a:t>
            </a:r>
            <a:r>
              <a:rPr lang="en-US" sz="1800" dirty="0" smtClean="0">
                <a:solidFill>
                  <a:schemeClr val="bg1"/>
                </a:solidFill>
              </a:rPr>
              <a:t>		</a:t>
            </a:r>
            <a:r>
              <a:rPr lang="en-US" sz="1800" dirty="0" smtClean="0">
                <a:solidFill>
                  <a:srgbClr val="00B0F0"/>
                </a:solidFill>
              </a:rPr>
              <a:t>telephone number</a:t>
            </a:r>
          </a:p>
          <a:p>
            <a:pPr>
              <a:buNone/>
            </a:pPr>
            <a:r>
              <a:rPr lang="en-US" sz="1800" dirty="0" smtClean="0">
                <a:solidFill>
                  <a:schemeClr val="bg1"/>
                </a:solidFill>
              </a:rPr>
              <a:t>estimated labor charges	</a:t>
            </a:r>
            <a:r>
              <a:rPr lang="en-US" sz="1800" dirty="0" smtClean="0">
                <a:solidFill>
                  <a:srgbClr val="00B050"/>
                </a:solidFill>
              </a:rPr>
              <a:t>model</a:t>
            </a:r>
            <a:r>
              <a:rPr lang="en-US" sz="1800" dirty="0" smtClean="0">
                <a:solidFill>
                  <a:schemeClr val="bg1"/>
                </a:solidFill>
              </a:rPr>
              <a:t>			total estimated charges</a:t>
            </a:r>
          </a:p>
          <a:p>
            <a:pPr>
              <a:buNone/>
            </a:pPr>
            <a:r>
              <a:rPr lang="en-US" sz="1800" dirty="0" smtClean="0">
                <a:solidFill>
                  <a:schemeClr val="bg1"/>
                </a:solidFill>
              </a:rPr>
              <a:t>estimated parts charges	</a:t>
            </a:r>
            <a:r>
              <a:rPr lang="en-US" sz="1800" dirty="0" smtClean="0">
                <a:solidFill>
                  <a:srgbClr val="00B0F0"/>
                </a:solidFill>
              </a:rPr>
              <a:t>name</a:t>
            </a:r>
            <a:r>
              <a:rPr lang="en-US" sz="1800" dirty="0" smtClean="0">
                <a:solidFill>
                  <a:schemeClr val="bg1"/>
                </a:solidFill>
              </a:rPr>
              <a:t>			</a:t>
            </a:r>
            <a:r>
              <a:rPr lang="en-US" sz="1800" dirty="0" smtClean="0">
                <a:solidFill>
                  <a:srgbClr val="00B050"/>
                </a:solidFill>
              </a:rPr>
              <a:t>year</a:t>
            </a:r>
          </a:p>
          <a:p>
            <a:pPr>
              <a:buNone/>
            </a:pPr>
            <a:endParaRPr lang="en-US" sz="1800" dirty="0" smtClean="0">
              <a:solidFill>
                <a:schemeClr val="bg1"/>
              </a:solidFill>
            </a:endParaRPr>
          </a:p>
          <a:p>
            <a:pPr>
              <a:buNone/>
            </a:pPr>
            <a:r>
              <a:rPr lang="en-US" dirty="0" smtClean="0">
                <a:solidFill>
                  <a:schemeClr val="bg1"/>
                </a:solidFill>
              </a:rPr>
              <a:t>A service quote had four simple properties in our scenario.  What types would they be?</a:t>
            </a:r>
            <a:endParaRPr lang="en-US" dirty="0">
              <a:solidFill>
                <a:schemeClr val="bg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Simple Properties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rgbClr val="00B0F0"/>
                </a:solidFill>
              </a:rPr>
              <a:t>address</a:t>
            </a:r>
            <a:r>
              <a:rPr lang="en-US" sz="1800" dirty="0" smtClean="0">
                <a:solidFill>
                  <a:schemeClr val="bg1"/>
                </a:solidFill>
              </a:rPr>
              <a:t>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a:t>
            </a:r>
            <a:r>
              <a:rPr lang="en-US" sz="1800" dirty="0" smtClean="0">
                <a:solidFill>
                  <a:srgbClr val="FFC000"/>
                </a:solidFill>
              </a:rPr>
              <a:t>sales tax</a:t>
            </a:r>
          </a:p>
          <a:p>
            <a:pPr>
              <a:buNone/>
            </a:pPr>
            <a:r>
              <a:rPr lang="en-US" sz="1800" i="1" u="sng" dirty="0" smtClean="0">
                <a:solidFill>
                  <a:srgbClr val="00B050"/>
                </a:solidFill>
              </a:rPr>
              <a:t>car</a:t>
            </a:r>
            <a:r>
              <a:rPr lang="en-US" sz="1800" dirty="0" smtClean="0">
                <a:solidFill>
                  <a:schemeClr val="bg1"/>
                </a:solidFill>
              </a:rPr>
              <a:t>				</a:t>
            </a:r>
            <a:r>
              <a:rPr lang="en-US" sz="1800" dirty="0" smtClean="0">
                <a:solidFill>
                  <a:srgbClr val="00B050"/>
                </a:solidFill>
              </a:rPr>
              <a:t>make</a:t>
            </a:r>
            <a:r>
              <a:rPr lang="en-US" sz="1800" dirty="0" smtClean="0">
                <a:solidFill>
                  <a:schemeClr val="bg1"/>
                </a:solidFill>
              </a:rPr>
              <a:t>			</a:t>
            </a:r>
            <a:r>
              <a:rPr lang="en-US" sz="1800" i="1" u="sng" dirty="0" smtClean="0">
                <a:solidFill>
                  <a:srgbClr val="FFC000"/>
                </a:solidFill>
              </a:rPr>
              <a:t>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i="1" u="sng" dirty="0" smtClean="0">
                <a:solidFill>
                  <a:srgbClr val="00B0F0"/>
                </a:solidFill>
              </a:rPr>
              <a:t>customer</a:t>
            </a:r>
            <a:r>
              <a:rPr lang="en-US" sz="1800" dirty="0" smtClean="0">
                <a:solidFill>
                  <a:schemeClr val="bg1"/>
                </a:solidFill>
              </a:rPr>
              <a:t>			</a:t>
            </a:r>
            <a:r>
              <a:rPr lang="en-US" sz="1800" dirty="0" smtClean="0">
                <a:solidFill>
                  <a:schemeClr val="tx1">
                    <a:lumMod val="75000"/>
                    <a:lumOff val="25000"/>
                  </a:schemeClr>
                </a:solidFill>
              </a:rPr>
              <a:t>Mercedes</a:t>
            </a:r>
            <a:r>
              <a:rPr lang="en-US" sz="1800" dirty="0" smtClean="0">
                <a:solidFill>
                  <a:schemeClr val="bg1"/>
                </a:solidFill>
              </a:rPr>
              <a:t>		</a:t>
            </a:r>
            <a:r>
              <a:rPr lang="en-US" sz="1800" dirty="0" smtClean="0">
                <a:solidFill>
                  <a:srgbClr val="00B0F0"/>
                </a:solidFill>
              </a:rPr>
              <a:t>telephone number</a:t>
            </a:r>
          </a:p>
          <a:p>
            <a:pPr>
              <a:buNone/>
            </a:pPr>
            <a:r>
              <a:rPr lang="en-US" sz="1800" dirty="0" smtClean="0">
                <a:solidFill>
                  <a:srgbClr val="FFC000"/>
                </a:solidFill>
              </a:rPr>
              <a:t>estimated labor charges</a:t>
            </a:r>
            <a:r>
              <a:rPr lang="en-US" sz="1800" dirty="0" smtClean="0">
                <a:solidFill>
                  <a:schemeClr val="bg1"/>
                </a:solidFill>
              </a:rPr>
              <a:t>	</a:t>
            </a:r>
            <a:r>
              <a:rPr lang="en-US" sz="1800" dirty="0" smtClean="0">
                <a:solidFill>
                  <a:srgbClr val="00B050"/>
                </a:solidFill>
              </a:rPr>
              <a:t>model</a:t>
            </a:r>
            <a:r>
              <a:rPr lang="en-US" sz="1800" dirty="0" smtClean="0">
                <a:solidFill>
                  <a:schemeClr val="bg1"/>
                </a:solidFill>
              </a:rPr>
              <a:t>			</a:t>
            </a:r>
            <a:r>
              <a:rPr lang="en-US" sz="1800" dirty="0" smtClean="0">
                <a:solidFill>
                  <a:srgbClr val="FFC000"/>
                </a:solidFill>
              </a:rPr>
              <a:t>total estimated charges</a:t>
            </a:r>
          </a:p>
          <a:p>
            <a:pPr>
              <a:buNone/>
            </a:pPr>
            <a:r>
              <a:rPr lang="en-US" sz="1800" dirty="0" smtClean="0">
                <a:solidFill>
                  <a:srgbClr val="FFC000"/>
                </a:solidFill>
              </a:rPr>
              <a:t>estimated parts charges</a:t>
            </a:r>
            <a:r>
              <a:rPr lang="en-US" sz="1800" dirty="0" smtClean="0">
                <a:solidFill>
                  <a:schemeClr val="bg1"/>
                </a:solidFill>
              </a:rPr>
              <a:t>	</a:t>
            </a:r>
            <a:r>
              <a:rPr lang="en-US" sz="1800" dirty="0" smtClean="0">
                <a:solidFill>
                  <a:srgbClr val="00B0F0"/>
                </a:solidFill>
              </a:rPr>
              <a:t>name</a:t>
            </a:r>
            <a:r>
              <a:rPr lang="en-US" sz="1800" dirty="0" smtClean="0">
                <a:solidFill>
                  <a:schemeClr val="bg1"/>
                </a:solidFill>
              </a:rPr>
              <a:t>			</a:t>
            </a:r>
            <a:r>
              <a:rPr lang="en-US" sz="1800" dirty="0" smtClean="0">
                <a:solidFill>
                  <a:srgbClr val="00B050"/>
                </a:solidFill>
              </a:rPr>
              <a:t>year</a:t>
            </a:r>
          </a:p>
          <a:p>
            <a:pPr>
              <a:buNone/>
            </a:pPr>
            <a:endParaRPr lang="en-US" sz="1800" dirty="0" smtClean="0">
              <a:solidFill>
                <a:schemeClr val="bg1"/>
              </a:solidFill>
            </a:endParaRPr>
          </a:p>
          <a:p>
            <a:pPr>
              <a:buNone/>
            </a:pPr>
            <a:r>
              <a:rPr lang="en-US" dirty="0" smtClean="0">
                <a:solidFill>
                  <a:schemeClr val="bg1"/>
                </a:solidFill>
              </a:rPr>
              <a:t>A service quote had four simple properties in our scenario.  What types would they be?</a:t>
            </a:r>
            <a:endParaRPr lang="en-US" dirty="0">
              <a:solidFill>
                <a:schemeClr val="bg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Who Owns Everything?</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rgbClr val="00B0F0"/>
                </a:solidFill>
              </a:rPr>
              <a:t>address</a:t>
            </a:r>
            <a:r>
              <a:rPr lang="en-US" sz="1800" dirty="0" smtClean="0">
                <a:solidFill>
                  <a:schemeClr val="bg1"/>
                </a:solidFill>
              </a:rPr>
              <a:t>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a:t>
            </a:r>
            <a:r>
              <a:rPr lang="en-US" sz="1800" dirty="0" smtClean="0">
                <a:solidFill>
                  <a:srgbClr val="FFC000"/>
                </a:solidFill>
              </a:rPr>
              <a:t>sales tax</a:t>
            </a:r>
          </a:p>
          <a:p>
            <a:pPr>
              <a:buNone/>
            </a:pPr>
            <a:r>
              <a:rPr lang="en-US" sz="1800" i="1" u="sng" dirty="0" smtClean="0">
                <a:solidFill>
                  <a:srgbClr val="00B050"/>
                </a:solidFill>
              </a:rPr>
              <a:t>car</a:t>
            </a:r>
            <a:r>
              <a:rPr lang="en-US" sz="1800" dirty="0" smtClean="0">
                <a:solidFill>
                  <a:schemeClr val="bg1"/>
                </a:solidFill>
              </a:rPr>
              <a:t>				</a:t>
            </a:r>
            <a:r>
              <a:rPr lang="en-US" sz="1800" dirty="0" smtClean="0">
                <a:solidFill>
                  <a:srgbClr val="00B050"/>
                </a:solidFill>
              </a:rPr>
              <a:t>make</a:t>
            </a:r>
            <a:r>
              <a:rPr lang="en-US" sz="1800" dirty="0" smtClean="0">
                <a:solidFill>
                  <a:schemeClr val="bg1"/>
                </a:solidFill>
              </a:rPr>
              <a:t>			</a:t>
            </a:r>
            <a:r>
              <a:rPr lang="en-US" sz="1800" i="1" u="sng" dirty="0" smtClean="0">
                <a:solidFill>
                  <a:srgbClr val="FFC000"/>
                </a:solidFill>
              </a:rPr>
              <a:t>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a:t>
            </a:r>
            <a:r>
              <a:rPr lang="en-US" sz="1800" b="1" u="sng" dirty="0" smtClean="0">
                <a:solidFill>
                  <a:srgbClr val="FF0000"/>
                </a:solidFill>
              </a:rPr>
              <a:t>shop</a:t>
            </a:r>
          </a:p>
          <a:p>
            <a:pPr>
              <a:buNone/>
            </a:pPr>
            <a:r>
              <a:rPr lang="en-US" sz="1800" i="1" u="sng" dirty="0" smtClean="0">
                <a:solidFill>
                  <a:srgbClr val="00B0F0"/>
                </a:solidFill>
              </a:rPr>
              <a:t>customer</a:t>
            </a:r>
            <a:r>
              <a:rPr lang="en-US" sz="1800" dirty="0" smtClean="0">
                <a:solidFill>
                  <a:schemeClr val="bg1"/>
                </a:solidFill>
              </a:rPr>
              <a:t>			</a:t>
            </a:r>
            <a:r>
              <a:rPr lang="en-US" sz="1800" dirty="0" smtClean="0">
                <a:solidFill>
                  <a:schemeClr val="tx1">
                    <a:lumMod val="75000"/>
                    <a:lumOff val="25000"/>
                  </a:schemeClr>
                </a:solidFill>
              </a:rPr>
              <a:t>Mercedes</a:t>
            </a:r>
            <a:r>
              <a:rPr lang="en-US" sz="1800" dirty="0" smtClean="0">
                <a:solidFill>
                  <a:schemeClr val="bg1"/>
                </a:solidFill>
              </a:rPr>
              <a:t>		</a:t>
            </a:r>
            <a:r>
              <a:rPr lang="en-US" sz="1800" dirty="0" smtClean="0">
                <a:solidFill>
                  <a:srgbClr val="00B0F0"/>
                </a:solidFill>
              </a:rPr>
              <a:t>telephone number</a:t>
            </a:r>
          </a:p>
          <a:p>
            <a:pPr>
              <a:buNone/>
            </a:pPr>
            <a:r>
              <a:rPr lang="en-US" sz="1800" dirty="0" smtClean="0">
                <a:solidFill>
                  <a:srgbClr val="FFC000"/>
                </a:solidFill>
              </a:rPr>
              <a:t>estimated labor charges</a:t>
            </a:r>
            <a:r>
              <a:rPr lang="en-US" sz="1800" dirty="0" smtClean="0">
                <a:solidFill>
                  <a:schemeClr val="bg1"/>
                </a:solidFill>
              </a:rPr>
              <a:t>	</a:t>
            </a:r>
            <a:r>
              <a:rPr lang="en-US" sz="1800" dirty="0" smtClean="0">
                <a:solidFill>
                  <a:srgbClr val="00B050"/>
                </a:solidFill>
              </a:rPr>
              <a:t>model</a:t>
            </a:r>
            <a:r>
              <a:rPr lang="en-US" sz="1800" dirty="0" smtClean="0">
                <a:solidFill>
                  <a:schemeClr val="bg1"/>
                </a:solidFill>
              </a:rPr>
              <a:t>			</a:t>
            </a:r>
            <a:r>
              <a:rPr lang="en-US" sz="1800" dirty="0" smtClean="0">
                <a:solidFill>
                  <a:srgbClr val="FFC000"/>
                </a:solidFill>
              </a:rPr>
              <a:t>total estimated charges</a:t>
            </a:r>
          </a:p>
          <a:p>
            <a:pPr>
              <a:buNone/>
            </a:pPr>
            <a:r>
              <a:rPr lang="en-US" sz="1800" dirty="0" smtClean="0">
                <a:solidFill>
                  <a:srgbClr val="FFC000"/>
                </a:solidFill>
              </a:rPr>
              <a:t>estimated parts charges</a:t>
            </a:r>
            <a:r>
              <a:rPr lang="en-US" sz="1800" dirty="0" smtClean="0">
                <a:solidFill>
                  <a:schemeClr val="bg1"/>
                </a:solidFill>
              </a:rPr>
              <a:t>	</a:t>
            </a:r>
            <a:r>
              <a:rPr lang="en-US" sz="1800" dirty="0" smtClean="0">
                <a:solidFill>
                  <a:srgbClr val="00B0F0"/>
                </a:solidFill>
              </a:rPr>
              <a:t>name</a:t>
            </a:r>
            <a:r>
              <a:rPr lang="en-US" sz="1800" dirty="0" smtClean="0">
                <a:solidFill>
                  <a:schemeClr val="bg1"/>
                </a:solidFill>
              </a:rPr>
              <a:t>			</a:t>
            </a:r>
            <a:r>
              <a:rPr lang="en-US" sz="1800" dirty="0" smtClean="0">
                <a:solidFill>
                  <a:srgbClr val="00B050"/>
                </a:solidFill>
              </a:rPr>
              <a:t>year</a:t>
            </a:r>
          </a:p>
          <a:p>
            <a:pPr>
              <a:buNone/>
            </a:pPr>
            <a:endParaRPr lang="en-US" sz="1800" dirty="0" smtClean="0">
              <a:solidFill>
                <a:schemeClr val="bg1"/>
              </a:solidFill>
            </a:endParaRPr>
          </a:p>
          <a:p>
            <a:pPr>
              <a:buNone/>
            </a:pPr>
            <a:r>
              <a:rPr lang="en-US" dirty="0" smtClean="0">
                <a:solidFill>
                  <a:schemeClr val="bg1"/>
                </a:solidFill>
              </a:rPr>
              <a:t>Our scenario revolves around the automotive shop, so this will hold the main method and will be the overarching class.</a:t>
            </a:r>
            <a:endParaRPr lang="en-US" dirty="0">
              <a:solidFill>
                <a:schemeClr val="bg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Code on the board!</a:t>
            </a:r>
            <a:endParaRPr lang="en-US" dirty="0">
              <a:solidFill>
                <a:schemeClr val="bg1"/>
              </a:solidFill>
            </a:endParaRPr>
          </a:p>
        </p:txBody>
      </p:sp>
      <p:sp>
        <p:nvSpPr>
          <p:cNvPr id="3" name="Content Placeholder 2"/>
          <p:cNvSpPr>
            <a:spLocks noGrp="1"/>
          </p:cNvSpPr>
          <p:nvPr>
            <p:ph idx="1"/>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TotalTime>
  <Words>587</Words>
  <Application>Microsoft Office PowerPoint</Application>
  <PresentationFormat>On-screen Show (4:3)</PresentationFormat>
  <Paragraphs>246</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CS 0007: Introduction to Java Lecture 17</vt:lpstr>
      <vt:lpstr>Main Portions of OOP</vt:lpstr>
      <vt:lpstr>Class Components</vt:lpstr>
      <vt:lpstr>Inter-class Relationships</vt:lpstr>
      <vt:lpstr>Subclasses</vt:lpstr>
      <vt:lpstr>Superclasses</vt:lpstr>
      <vt:lpstr>Declaring a Class to be a Subtype</vt:lpstr>
      <vt:lpstr>Inheritance</vt:lpstr>
      <vt:lpstr>Restricting Access</vt:lpstr>
      <vt:lpstr>Regarding Constructors</vt:lpstr>
      <vt:lpstr>Calling Superclass Constructor</vt:lpstr>
      <vt:lpstr>Example</vt:lpstr>
      <vt:lpstr>Example</vt:lpstr>
      <vt:lpstr>What If the Superclass’s Method Definition Does Not Fit the Class’s?</vt:lpstr>
      <vt:lpstr>Override</vt:lpstr>
      <vt:lpstr>Overriding</vt:lpstr>
      <vt:lpstr>Note</vt:lpstr>
      <vt:lpstr>Ownership</vt:lpstr>
      <vt:lpstr>Using the Classes</vt:lpstr>
      <vt:lpstr>Using the Classes</vt:lpstr>
      <vt:lpstr>Questions?</vt:lpstr>
      <vt:lpstr>Modeling a Problem</vt:lpstr>
      <vt:lpstr>Find the Nouns</vt:lpstr>
      <vt:lpstr>Coalescing</vt:lpstr>
      <vt:lpstr>Noun Out of Scope</vt:lpstr>
      <vt:lpstr>Subtypes</vt:lpstr>
      <vt:lpstr>Simple Properties</vt:lpstr>
      <vt:lpstr>Simple Properties</vt:lpstr>
      <vt:lpstr>Simple Properties</vt:lpstr>
      <vt:lpstr>Simple Properties</vt:lpstr>
      <vt:lpstr>Simple Properties</vt:lpstr>
      <vt:lpstr>Simple Properties</vt:lpstr>
      <vt:lpstr>Simple Properties</vt:lpstr>
      <vt:lpstr>Who Owns Everything?</vt:lpstr>
      <vt:lpstr>Code on the board!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0007: Introduction to Java Lecture 16</dc:title>
  <dc:creator>Eleonor Rico</dc:creator>
  <cp:lastModifiedBy>Eleonor Rico</cp:lastModifiedBy>
  <cp:revision>4</cp:revision>
  <dcterms:created xsi:type="dcterms:W3CDTF">2016-11-07T16:39:01Z</dcterms:created>
  <dcterms:modified xsi:type="dcterms:W3CDTF">2016-11-08T19:51:07Z</dcterms:modified>
</cp:coreProperties>
</file>